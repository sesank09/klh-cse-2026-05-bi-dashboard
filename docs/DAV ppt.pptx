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5" r:id="rId5"/>
    <p:sldId id="267" r:id="rId6"/>
    <p:sldId id="259" r:id="rId7"/>
    <p:sldId id="260" r:id="rId8"/>
    <p:sldId id="261" r:id="rId9"/>
    <p:sldId id="262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crop_9398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17584"/>
            <a:ext cx="7955279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6903720" y="0"/>
            <a:ext cx="1097280" cy="6858000"/>
          </a:xfrm>
          <a:prstGeom prst="parallelogram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1626289"/>
            <a:ext cx="6400800" cy="90794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500" b="1" dirty="0">
                <a:solidFill>
                  <a:srgbClr val="FFFFFF"/>
                </a:solidFill>
                <a:latin typeface="Aptos"/>
              </a:rPr>
              <a:t>Business Intelligence</a:t>
            </a:r>
            <a:br>
              <a:rPr dirty="0"/>
            </a:br>
            <a:r>
              <a:rPr b="1" dirty="0">
                <a:solidFill>
                  <a:schemeClr val="bg1"/>
                </a:solidFill>
              </a:rPr>
              <a:t>Dashboards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834640"/>
            <a:ext cx="6126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dirty="0">
                <a:solidFill>
                  <a:srgbClr val="E2E8F0"/>
                </a:solidFill>
                <a:latin typeface="Aptos"/>
              </a:rPr>
              <a:t>for Organizational Performance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703320"/>
            <a:ext cx="59893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dirty="0">
                <a:solidFill>
                  <a:srgbClr val="CBD5E1"/>
                </a:solidFill>
                <a:latin typeface="Aptos"/>
              </a:rPr>
              <a:t>From fragmented data to decisions that people can actually act 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4892040"/>
            <a:ext cx="1234440" cy="310896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4901183"/>
            <a:ext cx="1143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LITERATURE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21408" y="4892040"/>
            <a:ext cx="1417320" cy="310896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67127" y="4901183"/>
            <a:ext cx="1325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RESEARCH GAP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75887" y="4892040"/>
            <a:ext cx="1234440" cy="310896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21607" y="4901183"/>
            <a:ext cx="1143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INNOVATION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5404545"/>
            <a:ext cx="3200400" cy="11695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400" b="1" dirty="0">
                <a:solidFill>
                  <a:schemeClr val="bg1"/>
                </a:solidFill>
                <a:latin typeface="Aptos"/>
              </a:rPr>
              <a:t>Batch – 05</a:t>
            </a:r>
          </a:p>
          <a:p>
            <a:pPr algn="l"/>
            <a:r>
              <a:rPr lang="en-US" sz="1400" b="1" dirty="0" err="1">
                <a:solidFill>
                  <a:schemeClr val="bg1"/>
                </a:solidFill>
                <a:latin typeface="Aptos"/>
              </a:rPr>
              <a:t>Sesank</a:t>
            </a:r>
            <a:r>
              <a:rPr lang="en-US" sz="1400" b="1" dirty="0">
                <a:solidFill>
                  <a:schemeClr val="bg1"/>
                </a:solidFill>
                <a:latin typeface="Aptos"/>
              </a:rPr>
              <a:t> Reddy – 2420030161</a:t>
            </a:r>
          </a:p>
          <a:p>
            <a:pPr algn="l"/>
            <a:r>
              <a:rPr lang="en-US" sz="1400" b="1" dirty="0">
                <a:solidFill>
                  <a:schemeClr val="bg1"/>
                </a:solidFill>
                <a:latin typeface="Aptos"/>
              </a:rPr>
              <a:t>Sai Sri Harsha – 2420030190</a:t>
            </a:r>
          </a:p>
          <a:p>
            <a:pPr algn="l"/>
            <a:r>
              <a:rPr lang="en-US" sz="1400" b="1" dirty="0">
                <a:solidFill>
                  <a:schemeClr val="bg1"/>
                </a:solidFill>
                <a:latin typeface="Aptos"/>
              </a:rPr>
              <a:t>Sathwik               - 2420030048</a:t>
            </a:r>
          </a:p>
          <a:p>
            <a:pPr algn="l"/>
            <a:r>
              <a:rPr lang="en-US" sz="1400" b="1" dirty="0">
                <a:solidFill>
                  <a:schemeClr val="bg1"/>
                </a:solidFill>
                <a:latin typeface="Aptos"/>
              </a:rPr>
              <a:t>Anajan Reddy  -  2420030750</a:t>
            </a:r>
            <a:endParaRPr sz="1400" b="1" dirty="0">
              <a:solidFill>
                <a:schemeClr val="bg1"/>
              </a:solidFill>
              <a:latin typeface="Apto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F7E466-E2CC-1F3E-DA5A-6406B85BC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0" y="6630"/>
            <a:ext cx="1371599" cy="6056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594360"/>
            <a:ext cx="10515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1F2959"/>
                </a:solidFill>
                <a:latin typeface="Aptos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47472"/>
            <a:ext cx="411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ptos"/>
              </a:rPr>
              <a:t>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170432"/>
            <a:ext cx="1100023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_crop_2571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08760"/>
            <a:ext cx="3703320" cy="4526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4360" y="5440680"/>
            <a:ext cx="3703320" cy="5943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5559552"/>
            <a:ext cx="3337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One organization • many systems • no single performance view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6F7E466-E2CC-1F3E-DA5A-6406B85BC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832" y="17218"/>
            <a:ext cx="1371599" cy="6056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TextBox 8"/>
          <p:cNvSpPr txBox="1"/>
          <p:nvPr/>
        </p:nvSpPr>
        <p:spPr>
          <a:xfrm>
            <a:off x="4663440" y="1691640"/>
            <a:ext cx="6400800" cy="3383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lnSpc>
                <a:spcPct val="100000"/>
              </a:lnSpc>
              <a:spcAft>
                <a:spcPts val="1600"/>
              </a:spcAft>
            </a:pPr>
            <a:r>
              <a:rPr sz="1700" b="1" dirty="0">
                <a:solidFill>
                  <a:srgbClr val="1F2959"/>
                </a:solidFill>
                <a:latin typeface="Aptos"/>
              </a:rPr>
              <a:t>Organizations struggle</a:t>
            </a:r>
            <a:r>
              <a:rPr sz="1700" dirty="0">
                <a:solidFill>
                  <a:srgbClr val="475569"/>
                </a:solidFill>
                <a:latin typeface="Aptos"/>
              </a:rPr>
              <a:t> with fragmented data across Sales, Finance, HR, Marketing and Operations.</a:t>
            </a:r>
          </a:p>
          <a:p>
            <a:pPr>
              <a:lnSpc>
                <a:spcPct val="100000"/>
              </a:lnSpc>
              <a:spcAft>
                <a:spcPts val="1600"/>
              </a:spcAft>
            </a:pPr>
            <a:r>
              <a:rPr sz="1700" b="1" dirty="0">
                <a:solidFill>
                  <a:srgbClr val="1F2959"/>
                </a:solidFill>
                <a:latin typeface="Aptos"/>
              </a:rPr>
              <a:t>Manual reporting and inconsistent KPIs</a:t>
            </a:r>
            <a:r>
              <a:rPr sz="1700" dirty="0">
                <a:solidFill>
                  <a:srgbClr val="475569"/>
                </a:solidFill>
                <a:latin typeface="Aptos"/>
              </a:rPr>
              <a:t> make performance analysis slow and unreliable.</a:t>
            </a:r>
          </a:p>
          <a:p>
            <a:pPr>
              <a:lnSpc>
                <a:spcPct val="100000"/>
              </a:lnSpc>
              <a:spcAft>
                <a:spcPts val="1600"/>
              </a:spcAft>
            </a:pPr>
            <a:r>
              <a:rPr sz="1700" b="1" dirty="0">
                <a:solidFill>
                  <a:srgbClr val="1F2959"/>
                </a:solidFill>
                <a:latin typeface="Aptos"/>
              </a:rPr>
              <a:t>A unified BI solution</a:t>
            </a:r>
            <a:r>
              <a:rPr sz="1700" dirty="0">
                <a:solidFill>
                  <a:srgbClr val="475569"/>
                </a:solidFill>
                <a:latin typeface="Aptos"/>
              </a:rPr>
              <a:t> is needed to transform scattered data into clear, actionable decisions.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109960" y="347472"/>
            <a:ext cx="411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ptos"/>
              </a:rPr>
              <a:t>03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170432"/>
            <a:ext cx="1100023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94360" y="594360"/>
            <a:ext cx="105156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F2959"/>
                </a:solidFill>
                <a:latin typeface="Aptos"/>
              </a:rPr>
              <a:t>2. Objectives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1170432"/>
            <a:ext cx="1040587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0778" y="1600200"/>
            <a:ext cx="9416560" cy="3947363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just">
              <a:lnSpc>
                <a:spcPct val="102000"/>
              </a:lnSpc>
              <a:spcAft>
                <a:spcPts val="1100"/>
              </a:spcAft>
              <a:defRPr sz="1800">
                <a:latin typeface="Aptos"/>
              </a:defRPr>
            </a:pPr>
            <a:r>
              <a:rPr sz="1800" dirty="0">
                <a:solidFill>
                  <a:srgbClr val="000000"/>
                </a:solidFill>
                <a:latin typeface="Aptos"/>
              </a:rPr>
              <a:t>•  </a:t>
            </a:r>
            <a:r>
              <a:rPr sz="1800" b="1" dirty="0">
                <a:solidFill>
                  <a:srgbClr val="000000"/>
                </a:solidFill>
                <a:latin typeface="Aptos"/>
              </a:rPr>
              <a:t>To integrate</a:t>
            </a:r>
            <a:r>
              <a:rPr lang="en-US" sz="1800" b="1" dirty="0">
                <a:solidFill>
                  <a:srgbClr val="000000"/>
                </a:solidFill>
                <a:latin typeface="Aptos"/>
              </a:rPr>
              <a:t>:</a:t>
            </a:r>
            <a:r>
              <a:rPr sz="1800" dirty="0">
                <a:solidFill>
                  <a:srgbClr val="000000"/>
                </a:solidFill>
                <a:latin typeface="Aptos"/>
              </a:rPr>
              <a:t> organizational data from Sales, Finance, HR, Marketing and Operations into a unified analytical environment.</a:t>
            </a:r>
            <a:endParaRPr lang="en-US" sz="1800" dirty="0">
              <a:solidFill>
                <a:srgbClr val="000000"/>
              </a:solidFill>
              <a:latin typeface="Aptos"/>
            </a:endParaRPr>
          </a:p>
          <a:p>
            <a:pPr algn="just">
              <a:lnSpc>
                <a:spcPct val="102000"/>
              </a:lnSpc>
              <a:spcAft>
                <a:spcPts val="1100"/>
              </a:spcAft>
              <a:defRPr sz="1800">
                <a:latin typeface="Aptos"/>
              </a:defRPr>
            </a:pPr>
            <a:endParaRPr sz="1800" dirty="0">
              <a:solidFill>
                <a:srgbClr val="000000"/>
              </a:solidFill>
              <a:latin typeface="Aptos"/>
            </a:endParaRPr>
          </a:p>
          <a:p>
            <a:pPr algn="just">
              <a:lnSpc>
                <a:spcPct val="102000"/>
              </a:lnSpc>
              <a:spcAft>
                <a:spcPts val="1100"/>
              </a:spcAft>
              <a:defRPr sz="1800">
                <a:latin typeface="Aptos"/>
              </a:defRPr>
            </a:pPr>
            <a:r>
              <a:rPr sz="1800" dirty="0">
                <a:solidFill>
                  <a:srgbClr val="000000"/>
                </a:solidFill>
                <a:latin typeface="Aptos"/>
              </a:rPr>
              <a:t>•  </a:t>
            </a:r>
            <a:r>
              <a:rPr sz="1800" b="1" dirty="0">
                <a:solidFill>
                  <a:srgbClr val="000000"/>
                </a:solidFill>
                <a:latin typeface="Aptos"/>
              </a:rPr>
              <a:t>To develop</a:t>
            </a:r>
            <a:r>
              <a:rPr lang="en-US" sz="1800" b="1" dirty="0">
                <a:solidFill>
                  <a:srgbClr val="000000"/>
                </a:solidFill>
                <a:latin typeface="Aptos"/>
              </a:rPr>
              <a:t>:</a:t>
            </a:r>
            <a:r>
              <a:rPr sz="1800" dirty="0">
                <a:solidFill>
                  <a:srgbClr val="000000"/>
                </a:solidFill>
                <a:latin typeface="Aptos"/>
              </a:rPr>
              <a:t> a reliable ETL pipeline for profiling, cleaning, transforming and validating </a:t>
            </a:r>
            <a:r>
              <a:rPr lang="en-US" sz="1800" dirty="0">
                <a:solidFill>
                  <a:srgbClr val="000000"/>
                </a:solidFill>
                <a:latin typeface="Aptos"/>
              </a:rPr>
              <a:t>    </a:t>
            </a:r>
            <a:r>
              <a:rPr sz="1800" dirty="0">
                <a:solidFill>
                  <a:srgbClr val="000000"/>
                </a:solidFill>
                <a:latin typeface="Aptos"/>
              </a:rPr>
              <a:t>organizational data.</a:t>
            </a:r>
            <a:endParaRPr lang="en-US" sz="1800" dirty="0">
              <a:solidFill>
                <a:srgbClr val="000000"/>
              </a:solidFill>
              <a:latin typeface="Aptos"/>
            </a:endParaRPr>
          </a:p>
          <a:p>
            <a:pPr algn="just">
              <a:lnSpc>
                <a:spcPct val="102000"/>
              </a:lnSpc>
              <a:spcAft>
                <a:spcPts val="1100"/>
              </a:spcAft>
              <a:defRPr sz="1800">
                <a:latin typeface="Aptos"/>
              </a:defRPr>
            </a:pPr>
            <a:endParaRPr sz="1800" dirty="0">
              <a:solidFill>
                <a:srgbClr val="000000"/>
              </a:solidFill>
              <a:latin typeface="Aptos"/>
            </a:endParaRPr>
          </a:p>
          <a:p>
            <a:pPr algn="just">
              <a:lnSpc>
                <a:spcPct val="102000"/>
              </a:lnSpc>
              <a:spcAft>
                <a:spcPts val="1100"/>
              </a:spcAft>
              <a:defRPr sz="1800">
                <a:latin typeface="Aptos"/>
              </a:defRPr>
            </a:pPr>
            <a:r>
              <a:rPr sz="1800" dirty="0">
                <a:solidFill>
                  <a:srgbClr val="000000"/>
                </a:solidFill>
                <a:latin typeface="Aptos"/>
              </a:rPr>
              <a:t>•  </a:t>
            </a:r>
            <a:r>
              <a:rPr sz="1800" b="1" dirty="0">
                <a:solidFill>
                  <a:srgbClr val="000000"/>
                </a:solidFill>
                <a:latin typeface="Aptos"/>
              </a:rPr>
              <a:t>To standardize</a:t>
            </a:r>
            <a:r>
              <a:rPr lang="en-US" sz="1800" b="1" dirty="0">
                <a:solidFill>
                  <a:srgbClr val="000000"/>
                </a:solidFill>
                <a:latin typeface="Aptos"/>
              </a:rPr>
              <a:t>:</a:t>
            </a:r>
            <a:r>
              <a:rPr sz="1800" dirty="0">
                <a:solidFill>
                  <a:srgbClr val="000000"/>
                </a:solidFill>
                <a:latin typeface="Aptos"/>
              </a:rPr>
              <a:t> key performance indicators with consistent, reusable and auditable business definitions.</a:t>
            </a:r>
            <a:endParaRPr lang="en-US" sz="1800" dirty="0">
              <a:solidFill>
                <a:srgbClr val="000000"/>
              </a:solidFill>
              <a:latin typeface="Aptos"/>
            </a:endParaRPr>
          </a:p>
          <a:p>
            <a:pPr algn="just">
              <a:lnSpc>
                <a:spcPct val="102000"/>
              </a:lnSpc>
              <a:spcAft>
                <a:spcPts val="1100"/>
              </a:spcAft>
              <a:defRPr sz="1800">
                <a:latin typeface="Aptos"/>
              </a:defRPr>
            </a:pPr>
            <a:endParaRPr sz="1800" dirty="0">
              <a:solidFill>
                <a:srgbClr val="000000"/>
              </a:solidFill>
              <a:latin typeface="Aptos"/>
            </a:endParaRPr>
          </a:p>
          <a:p>
            <a:pPr algn="just">
              <a:lnSpc>
                <a:spcPct val="102000"/>
              </a:lnSpc>
              <a:spcAft>
                <a:spcPts val="1100"/>
              </a:spcAft>
              <a:defRPr sz="1800">
                <a:latin typeface="Aptos"/>
              </a:defRPr>
            </a:pPr>
            <a:r>
              <a:rPr sz="1800" dirty="0">
                <a:solidFill>
                  <a:srgbClr val="000000"/>
                </a:solidFill>
                <a:latin typeface="Aptos"/>
              </a:rPr>
              <a:t>•  </a:t>
            </a:r>
            <a:r>
              <a:rPr sz="1800" b="1" dirty="0">
                <a:solidFill>
                  <a:srgbClr val="000000"/>
                </a:solidFill>
                <a:latin typeface="Aptos"/>
              </a:rPr>
              <a:t>To design</a:t>
            </a:r>
            <a:r>
              <a:rPr lang="en-US" sz="1800" b="1" dirty="0">
                <a:solidFill>
                  <a:srgbClr val="000000"/>
                </a:solidFill>
                <a:latin typeface="Aptos"/>
              </a:rPr>
              <a:t>:</a:t>
            </a:r>
            <a:r>
              <a:rPr sz="1800" dirty="0">
                <a:solidFill>
                  <a:srgbClr val="000000"/>
                </a:solidFill>
                <a:latin typeface="Aptos"/>
              </a:rPr>
              <a:t> interactive dashboards that reveal trends, performance drivers and actionable insights for better decision-making.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00890B-746D-B741-EE88-09E29D87A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1475" y="17218"/>
            <a:ext cx="1371599" cy="6056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F2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2439" y="328624"/>
            <a:ext cx="35440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dirty="0">
                <a:solidFill>
                  <a:srgbClr val="FFFFFF"/>
                </a:solidFill>
                <a:latin typeface="Aptos"/>
              </a:rPr>
              <a:t> Literature Survey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649224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ptos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960120"/>
          <a:ext cx="11384280" cy="4919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7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371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1991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Paper</a:t>
                      </a:r>
                    </a:p>
                  </a:txBody>
                  <a:tcPr marL="50292" marR="50292" marT="32004" marB="18288">
                    <a:solidFill>
                      <a:srgbClr val="1F295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Year</a:t>
                      </a:r>
                    </a:p>
                  </a:txBody>
                  <a:tcPr marL="50292" marR="50292" marT="32004" marB="18288">
                    <a:solidFill>
                      <a:srgbClr val="1F295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Publication</a:t>
                      </a:r>
                    </a:p>
                  </a:txBody>
                  <a:tcPr marL="50292" marR="50292" marT="32004" marB="18288">
                    <a:solidFill>
                      <a:srgbClr val="1F295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Key Contribution</a:t>
                      </a:r>
                    </a:p>
                  </a:txBody>
                  <a:tcPr marL="50292" marR="50292" marT="32004" marB="18288">
                    <a:solidFill>
                      <a:srgbClr val="1F29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9912">
                <a:tc>
                  <a:txBody>
                    <a:bodyPr/>
                    <a:lstStyle/>
                    <a:p>
                      <a:pPr algn="l"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869">
                          <a:solidFill>
                            <a:srgbClr val="1F2937"/>
                          </a:solidFill>
                          <a:latin typeface="Aptos"/>
                        </a:rPr>
                        <a:t>Drillboards: Adaptive Visualization Dashboards for Dynamic Personalization of Visualization Experiences</a:t>
                      </a:r>
                    </a:p>
                  </a:txBody>
                  <a:tcPr marL="50292" marR="41148" marT="32004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900">
                          <a:solidFill>
                            <a:srgbClr val="1F2937"/>
                          </a:solidFill>
                          <a:latin typeface="Aptos"/>
                        </a:rPr>
                        <a:t>2025</a:t>
                      </a:r>
                    </a:p>
                  </a:txBody>
                  <a:tcPr marL="50292" marR="41148" marT="32004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900">
                          <a:solidFill>
                            <a:srgbClr val="1F2937"/>
                          </a:solidFill>
                          <a:latin typeface="Aptos"/>
                        </a:rPr>
                        <a:t>IEEE – Transactions on Visualization and Computer Graphics</a:t>
                      </a:r>
                    </a:p>
                  </a:txBody>
                  <a:tcPr marL="50292" marR="41148" marT="32004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869">
                          <a:solidFill>
                            <a:srgbClr val="1F2937"/>
                          </a:solidFill>
                          <a:latin typeface="Aptos"/>
                        </a:rPr>
                        <a:t>Introduces hierarchical dashboards that support movement from summarized views to detailed views based on user expertise and interest.</a:t>
                      </a:r>
                    </a:p>
                  </a:txBody>
                  <a:tcPr marL="50292" marR="41148" marT="32004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9912">
                <a:tc>
                  <a:txBody>
                    <a:bodyPr/>
                    <a:lstStyle/>
                    <a:p>
                      <a:pPr algn="l"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869">
                          <a:solidFill>
                            <a:srgbClr val="1F2937"/>
                          </a:solidFill>
                          <a:latin typeface="Aptos"/>
                        </a:rPr>
                        <a:t>The Effects of Customisation on the Usability of Visual Analytics Dashboards: The Good, the Bad, and the Ugly</a:t>
                      </a:r>
                    </a:p>
                  </a:txBody>
                  <a:tcPr marL="50292" marR="41148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900">
                          <a:solidFill>
                            <a:srgbClr val="1F2937"/>
                          </a:solidFill>
                          <a:latin typeface="Aptos"/>
                        </a:rPr>
                        <a:t>2025</a:t>
                      </a:r>
                    </a:p>
                  </a:txBody>
                  <a:tcPr marL="50292" marR="41148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900">
                          <a:solidFill>
                            <a:srgbClr val="1F2937"/>
                          </a:solidFill>
                          <a:latin typeface="Aptos"/>
                        </a:rPr>
                        <a:t>ACM – IUI</a:t>
                      </a:r>
                    </a:p>
                  </a:txBody>
                  <a:tcPr marL="50292" marR="41148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869">
                          <a:solidFill>
                            <a:srgbClr val="1F2937"/>
                          </a:solidFill>
                          <a:latin typeface="Aptos"/>
                        </a:rPr>
                        <a:t>Examines dashboard customization and shows why purposeful personalization should be balanced against cognitive load and usability.</a:t>
                      </a:r>
                    </a:p>
                  </a:txBody>
                  <a:tcPr marL="50292" marR="41148" marT="32004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9912">
                <a:tc>
                  <a:txBody>
                    <a:bodyPr/>
                    <a:lstStyle/>
                    <a:p>
                      <a:pPr algn="l"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869" dirty="0">
                          <a:solidFill>
                            <a:srgbClr val="1F2937"/>
                          </a:solidFill>
                          <a:latin typeface="Aptos"/>
                        </a:rPr>
                        <a:t>A Workflow to Systematically Design Uncertainty-Aware Visual Analytics Applications</a:t>
                      </a:r>
                    </a:p>
                  </a:txBody>
                  <a:tcPr marL="50292" marR="41148" marT="32004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900">
                          <a:solidFill>
                            <a:srgbClr val="1F2937"/>
                          </a:solidFill>
                          <a:latin typeface="Aptos"/>
                        </a:rPr>
                        <a:t>2025</a:t>
                      </a:r>
                    </a:p>
                  </a:txBody>
                  <a:tcPr marL="50292" marR="41148" marT="32004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900">
                          <a:solidFill>
                            <a:srgbClr val="1F2937"/>
                          </a:solidFill>
                          <a:latin typeface="Aptos"/>
                        </a:rPr>
                        <a:t>Springer – The Visual Computer</a:t>
                      </a:r>
                    </a:p>
                  </a:txBody>
                  <a:tcPr marL="50292" marR="41148" marT="32004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869">
                          <a:solidFill>
                            <a:srgbClr val="1F2937"/>
                          </a:solidFill>
                          <a:latin typeface="Aptos"/>
                        </a:rPr>
                        <a:t>Provides a structured workflow for incorporating uncertainty into visual analytics and decision-support applications.</a:t>
                      </a:r>
                    </a:p>
                  </a:txBody>
                  <a:tcPr marL="50292" marR="41148" marT="32004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9912">
                <a:tc>
                  <a:txBody>
                    <a:bodyPr/>
                    <a:lstStyle/>
                    <a:p>
                      <a:pPr algn="l"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869" dirty="0">
                          <a:solidFill>
                            <a:srgbClr val="1F2937"/>
                          </a:solidFill>
                          <a:latin typeface="Aptos"/>
                        </a:rPr>
                        <a:t>Linking Business Analytics Affordances to Corporate Strategic Planning and Decision Making Outcomes</a:t>
                      </a:r>
                    </a:p>
                  </a:txBody>
                  <a:tcPr marL="50292" marR="41148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900">
                          <a:solidFill>
                            <a:srgbClr val="1F2937"/>
                          </a:solidFill>
                          <a:latin typeface="Aptos"/>
                        </a:rPr>
                        <a:t>2024</a:t>
                      </a:r>
                    </a:p>
                  </a:txBody>
                  <a:tcPr marL="50292" marR="41148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900">
                          <a:solidFill>
                            <a:srgbClr val="1F2937"/>
                          </a:solidFill>
                          <a:latin typeface="Aptos"/>
                        </a:rPr>
                        <a:t>Springer – Information Systems and e-Business Management</a:t>
                      </a:r>
                    </a:p>
                  </a:txBody>
                  <a:tcPr marL="50292" marR="41148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869" dirty="0">
                          <a:solidFill>
                            <a:srgbClr val="1F2937"/>
                          </a:solidFill>
                          <a:latin typeface="Aptos"/>
                        </a:rPr>
                        <a:t>Connects business analytics capabilities and affordances with strategic planning and decision-making outcomes.</a:t>
                      </a:r>
                    </a:p>
                  </a:txBody>
                  <a:tcPr marL="50292" marR="41148" marT="32004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19912">
                <a:tc>
                  <a:txBody>
                    <a:bodyPr/>
                    <a:lstStyle/>
                    <a:p>
                      <a:pPr algn="l"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869">
                          <a:solidFill>
                            <a:srgbClr val="1F2937"/>
                          </a:solidFill>
                          <a:latin typeface="Aptos"/>
                        </a:rPr>
                        <a:t>Azimuth: Designing Accessible Dashboards for Screen Reader Users</a:t>
                      </a:r>
                    </a:p>
                  </a:txBody>
                  <a:tcPr marL="50292" marR="41148" marT="32004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900">
                          <a:solidFill>
                            <a:srgbClr val="1F2937"/>
                          </a:solidFill>
                          <a:latin typeface="Aptos"/>
                        </a:rPr>
                        <a:t>2023</a:t>
                      </a:r>
                    </a:p>
                  </a:txBody>
                  <a:tcPr marL="50292" marR="41148" marT="32004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900">
                          <a:solidFill>
                            <a:srgbClr val="1F2937"/>
                          </a:solidFill>
                          <a:latin typeface="Aptos"/>
                        </a:rPr>
                        <a:t>ACM – ASSETS</a:t>
                      </a:r>
                    </a:p>
                  </a:txBody>
                  <a:tcPr marL="50292" marR="41148" marT="32004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869" dirty="0">
                          <a:solidFill>
                            <a:srgbClr val="1F2937"/>
                          </a:solidFill>
                          <a:latin typeface="Aptos"/>
                        </a:rPr>
                        <a:t>Addresses dashboard accessibility for screen-reader users and supports more inclusive access to analytical information.</a:t>
                      </a:r>
                    </a:p>
                  </a:txBody>
                  <a:tcPr marL="50292" marR="41148" marT="32004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84048" y="6053328"/>
            <a:ext cx="1138428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6144768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4748B"/>
                </a:solidFill>
                <a:latin typeface="Aptos"/>
              </a:rPr>
              <a:t>Literature focus: Business Intelligence • Data Analytics • Dashboard Design • Visual Analytics • Decision Support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CAC02E-87CF-887E-362E-ECCC420A0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1475" y="2971"/>
            <a:ext cx="1566506" cy="830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F2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25583" y="236066"/>
            <a:ext cx="2363468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dirty="0">
                <a:solidFill>
                  <a:srgbClr val="FFFFFF"/>
                </a:solidFill>
                <a:latin typeface="Aptos"/>
              </a:rPr>
              <a:t>Literature Survey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84048" y="960120"/>
          <a:ext cx="11384280" cy="5148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4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2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45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5801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Paper</a:t>
                      </a:r>
                    </a:p>
                  </a:txBody>
                  <a:tcPr marL="54864" marR="45720" marT="27432" marB="18288">
                    <a:solidFill>
                      <a:srgbClr val="1F29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Year</a:t>
                      </a:r>
                    </a:p>
                  </a:txBody>
                  <a:tcPr marL="54864" marR="45720" marT="27432" marB="18288">
                    <a:solidFill>
                      <a:srgbClr val="1F29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Publication</a:t>
                      </a:r>
                    </a:p>
                  </a:txBody>
                  <a:tcPr marL="54864" marR="45720" marT="27432" marB="18288">
                    <a:solidFill>
                      <a:srgbClr val="1F29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Key Contribution</a:t>
                      </a:r>
                    </a:p>
                  </a:txBody>
                  <a:tcPr marL="54864" marR="45720" marT="27432" marB="18288">
                    <a:solidFill>
                      <a:srgbClr val="1F29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8012">
                <a:tc>
                  <a:txBody>
                    <a:bodyPr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860">
                          <a:solidFill>
                            <a:srgbClr val="1F2937"/>
                          </a:solidFill>
                          <a:latin typeface="Aptos"/>
                        </a:rPr>
                        <a:t>From Dashboard Zoo to Census: A Case Study with Tableau Public</a:t>
                      </a:r>
                    </a:p>
                  </a:txBody>
                  <a:tcPr marL="54864" marR="41148" marT="36576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900">
                          <a:solidFill>
                            <a:srgbClr val="1F2937"/>
                          </a:solidFill>
                          <a:latin typeface="Aptos"/>
                        </a:rPr>
                        <a:t>2024</a:t>
                      </a:r>
                    </a:p>
                  </a:txBody>
                  <a:tcPr marL="54864" marR="41148" marT="36576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900">
                          <a:solidFill>
                            <a:srgbClr val="1F2937"/>
                          </a:solidFill>
                          <a:latin typeface="Aptos"/>
                        </a:rPr>
                        <a:t>IEEE – Transactions on Visualization and Computer Graphics</a:t>
                      </a:r>
                    </a:p>
                  </a:txBody>
                  <a:tcPr marL="54864" marR="41148" marT="36576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860">
                          <a:solidFill>
                            <a:srgbClr val="1F2937"/>
                          </a:solidFill>
                          <a:latin typeface="Aptos"/>
                        </a:rPr>
                        <a:t>Analyzes 25,620 Tableau Public dashboards using graph representations to identify common dashboard structures and design patterns.</a:t>
                      </a:r>
                    </a:p>
                  </a:txBody>
                  <a:tcPr marL="54864" marR="41148" marT="36576" marB="22860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8012">
                <a:tc>
                  <a:txBody>
                    <a:bodyPr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860">
                          <a:solidFill>
                            <a:srgbClr val="1F2937"/>
                          </a:solidFill>
                          <a:latin typeface="Aptos"/>
                        </a:rPr>
                        <a:t>D-Tour: Semi-Automatic Generation of Interactive Guided Tours for Visualization Dashboard Onboarding</a:t>
                      </a:r>
                    </a:p>
                  </a:txBody>
                  <a:tcPr marL="54864" marR="41148" marT="36576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900">
                          <a:solidFill>
                            <a:srgbClr val="1F2937"/>
                          </a:solidFill>
                          <a:latin typeface="Aptos"/>
                        </a:rPr>
                        <a:t>2025</a:t>
                      </a:r>
                    </a:p>
                  </a:txBody>
                  <a:tcPr marL="54864" marR="41148" marT="36576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900">
                          <a:solidFill>
                            <a:srgbClr val="1F2937"/>
                          </a:solidFill>
                          <a:latin typeface="Aptos"/>
                        </a:rPr>
                        <a:t>IEEE – Transactions on Visualization and Computer Graphics</a:t>
                      </a:r>
                    </a:p>
                  </a:txBody>
                  <a:tcPr marL="54864" marR="41148" marT="36576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860">
                          <a:solidFill>
                            <a:srgbClr val="1F2937"/>
                          </a:solidFill>
                          <a:latin typeface="Aptos"/>
                        </a:rPr>
                        <a:t>Introduces guided tours that explain dashboard charts, data and interactions, helping users understand unfamiliar dashboards.</a:t>
                      </a:r>
                    </a:p>
                  </a:txBody>
                  <a:tcPr marL="54864" marR="41148" marT="36576" marB="228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8012">
                <a:tc>
                  <a:txBody>
                    <a:bodyPr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860">
                          <a:solidFill>
                            <a:srgbClr val="1F2937"/>
                          </a:solidFill>
                          <a:latin typeface="Aptos"/>
                        </a:rPr>
                        <a:t>Behavioural Indicators of Usability in Visual Analytics Dashboards</a:t>
                      </a:r>
                    </a:p>
                  </a:txBody>
                  <a:tcPr marL="54864" marR="41148" marT="36576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900">
                          <a:solidFill>
                            <a:srgbClr val="1F2937"/>
                          </a:solidFill>
                          <a:latin typeface="Aptos"/>
                        </a:rPr>
                        <a:t>2025</a:t>
                      </a:r>
                    </a:p>
                  </a:txBody>
                  <a:tcPr marL="54864" marR="41148" marT="36576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900">
                          <a:solidFill>
                            <a:srgbClr val="1F2937"/>
                          </a:solidFill>
                          <a:latin typeface="Aptos"/>
                        </a:rPr>
                        <a:t>ACM – Transactions on Interactive Intelligent Systems</a:t>
                      </a:r>
                    </a:p>
                  </a:txBody>
                  <a:tcPr marL="54864" marR="41148" marT="36576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860">
                          <a:solidFill>
                            <a:srgbClr val="1F2937"/>
                          </a:solidFill>
                          <a:latin typeface="Aptos"/>
                        </a:rPr>
                        <a:t>Studies interaction behavior and graph literacy as indicators of dashboard usability, supporting task-based evaluation.</a:t>
                      </a:r>
                    </a:p>
                  </a:txBody>
                  <a:tcPr marL="54864" marR="41148" marT="36576" marB="22860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8012">
                <a:tc>
                  <a:txBody>
                    <a:bodyPr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860">
                          <a:solidFill>
                            <a:srgbClr val="1F2937"/>
                          </a:solidFill>
                          <a:latin typeface="Aptos"/>
                        </a:rPr>
                        <a:t>Bringing Data into the Conversation: Adapting Content from Business Intelligence Dashboards for Threaded Collaboration Platforms</a:t>
                      </a:r>
                    </a:p>
                  </a:txBody>
                  <a:tcPr marL="54864" marR="41148" marT="36576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900">
                          <a:solidFill>
                            <a:srgbClr val="1F2937"/>
                          </a:solidFill>
                          <a:latin typeface="Aptos"/>
                        </a:rPr>
                        <a:t>2024</a:t>
                      </a:r>
                    </a:p>
                  </a:txBody>
                  <a:tcPr marL="54864" marR="41148" marT="36576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900">
                          <a:solidFill>
                            <a:srgbClr val="1F2937"/>
                          </a:solidFill>
                          <a:latin typeface="Aptos"/>
                        </a:rPr>
                        <a:t>IEEE VIS – Short Papers</a:t>
                      </a:r>
                    </a:p>
                  </a:txBody>
                  <a:tcPr marL="54864" marR="41148" marT="36576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860">
                          <a:solidFill>
                            <a:srgbClr val="1F2937"/>
                          </a:solidFill>
                          <a:latin typeface="Aptos"/>
                        </a:rPr>
                        <a:t>Presents strategies for converting dashboard insights into shareable snapshots for collaboration and organizational communication.</a:t>
                      </a:r>
                    </a:p>
                  </a:txBody>
                  <a:tcPr marL="54864" marR="41148" marT="36576" marB="228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58012">
                <a:tc>
                  <a:txBody>
                    <a:bodyPr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860">
                          <a:solidFill>
                            <a:srgbClr val="1F2937"/>
                          </a:solidFill>
                          <a:latin typeface="Aptos"/>
                        </a:rPr>
                        <a:t>Dashboard Design Mining and Recommendation</a:t>
                      </a:r>
                    </a:p>
                  </a:txBody>
                  <a:tcPr marL="54864" marR="41148" marT="36576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900">
                          <a:solidFill>
                            <a:srgbClr val="1F2937"/>
                          </a:solidFill>
                          <a:latin typeface="Aptos"/>
                        </a:rPr>
                        <a:t>2022</a:t>
                      </a:r>
                    </a:p>
                  </a:txBody>
                  <a:tcPr marL="54864" marR="41148" marT="36576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900">
                          <a:solidFill>
                            <a:srgbClr val="1F2937"/>
                          </a:solidFill>
                          <a:latin typeface="Aptos"/>
                        </a:rPr>
                        <a:t>IEEE – Transactions on Visualization and Computer Graphics</a:t>
                      </a:r>
                    </a:p>
                  </a:txBody>
                  <a:tcPr marL="54864" marR="41148" marT="36576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8000"/>
                        </a:lnSpc>
                        <a:spcAft>
                          <a:spcPts val="0"/>
                        </a:spcAft>
                      </a:pPr>
                      <a:r>
                        <a:rPr sz="860">
                          <a:solidFill>
                            <a:srgbClr val="1F2937"/>
                          </a:solidFill>
                          <a:latin typeface="Aptos"/>
                        </a:rPr>
                        <a:t>Mines 854 dashboards to identify layout and interaction rules and develops recommendations for automated dashboard organization.</a:t>
                      </a:r>
                    </a:p>
                  </a:txBody>
                  <a:tcPr marL="54864" marR="41148" marT="36576" marB="22860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84048" y="6053328"/>
            <a:ext cx="1138428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144768"/>
            <a:ext cx="10698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64748B"/>
                </a:solidFill>
                <a:latin typeface="Aptos"/>
              </a:rPr>
              <a:t>Literature focus: Dashboard Design • Usability • Visual Analytics • Collaboration • Human-Centered BI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4277B35-4B26-2D39-0AD5-6DF3FF51D8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1475" y="-5821"/>
            <a:ext cx="1566506" cy="830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621009"/>
            <a:ext cx="10515600" cy="4770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 dirty="0">
                <a:solidFill>
                  <a:srgbClr val="1F2959"/>
                </a:solidFill>
                <a:latin typeface="Aptos"/>
              </a:rPr>
              <a:t>5 themes → one clear direction.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47472"/>
            <a:ext cx="411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ptos"/>
              </a:rPr>
              <a:t>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170432"/>
            <a:ext cx="1100023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417320"/>
            <a:ext cx="4800600" cy="640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1572768"/>
            <a:ext cx="457200" cy="310896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581912"/>
            <a:ext cx="365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1490472"/>
            <a:ext cx="169164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F2959"/>
                </a:solidFill>
                <a:latin typeface="Aptos"/>
              </a:rPr>
              <a:t>BI &amp; Decisions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1463040"/>
            <a:ext cx="2148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69" b="0">
                <a:solidFill>
                  <a:srgbClr val="475569"/>
                </a:solidFill>
                <a:latin typeface="Aptos"/>
              </a:rPr>
              <a:t>BI creates value when analytics are embedded in real decisions.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58568"/>
            <a:ext cx="4800600" cy="640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2414016"/>
            <a:ext cx="457200" cy="310896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423160"/>
            <a:ext cx="365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2331720"/>
            <a:ext cx="169164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F2959"/>
                </a:solidFill>
                <a:latin typeface="Aptos"/>
              </a:rPr>
              <a:t>Self-Service BI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304288"/>
            <a:ext cx="2148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69" b="0">
                <a:solidFill>
                  <a:srgbClr val="475569"/>
                </a:solidFill>
                <a:latin typeface="Aptos"/>
              </a:rPr>
              <a:t>Adoption depends on governance, skills and the data environment.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099816"/>
            <a:ext cx="4800600" cy="640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22960" y="3255264"/>
            <a:ext cx="457200" cy="310896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3264408"/>
            <a:ext cx="365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3172968"/>
            <a:ext cx="169164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F2959"/>
                </a:solidFill>
                <a:latin typeface="Aptos"/>
              </a:rPr>
              <a:t>Data Understanding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145536"/>
            <a:ext cx="2148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69" b="0">
                <a:solidFill>
                  <a:srgbClr val="475569"/>
                </a:solidFill>
                <a:latin typeface="Aptos"/>
              </a:rPr>
              <a:t>Profiling, metadata and context matter before visualization.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941064"/>
            <a:ext cx="4800600" cy="640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22960" y="4096512"/>
            <a:ext cx="457200" cy="310896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4105656"/>
            <a:ext cx="365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4014216"/>
            <a:ext cx="169164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F2959"/>
                </a:solidFill>
                <a:latin typeface="Aptos"/>
              </a:rPr>
              <a:t>Visual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3986784"/>
            <a:ext cx="2148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69" b="0">
                <a:solidFill>
                  <a:srgbClr val="475569"/>
                </a:solidFill>
                <a:latin typeface="Aptos"/>
              </a:rPr>
              <a:t>Goals, uncertainty and representation affect interpretation.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782312"/>
            <a:ext cx="4800600" cy="640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22960" y="4937760"/>
            <a:ext cx="457200" cy="310896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4946904"/>
            <a:ext cx="365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4752" y="4855464"/>
            <a:ext cx="169164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F2959"/>
                </a:solidFill>
                <a:latin typeface="Aptos"/>
              </a:rPr>
              <a:t>Dashboard UX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4828032"/>
            <a:ext cx="2148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69" b="0">
                <a:solidFill>
                  <a:srgbClr val="475569"/>
                </a:solidFill>
                <a:latin typeface="Aptos"/>
              </a:rPr>
              <a:t>Cognitive load, personalization and drill-down shape usability.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97880" y="1417320"/>
            <a:ext cx="5440680" cy="4480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36208" y="2251873"/>
            <a:ext cx="4480560" cy="7540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 dirty="0">
                <a:solidFill>
                  <a:srgbClr val="FFFFFF"/>
                </a:solidFill>
                <a:latin typeface="Aptos"/>
              </a:rPr>
              <a:t>Successful BI is</a:t>
            </a:r>
            <a:br>
              <a:rPr dirty="0"/>
            </a:br>
            <a:r>
              <a:rPr dirty="0">
                <a:solidFill>
                  <a:schemeClr val="bg1"/>
                </a:solidFill>
              </a:rPr>
              <a:t>not only a dashboard.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6208" y="3246120"/>
            <a:ext cx="4389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Aptos"/>
              </a:rPr>
              <a:t>The research repeatedly points to the same chain: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6208" y="3794760"/>
            <a:ext cx="2057400" cy="310896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81928" y="3803904"/>
            <a:ext cx="1965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DATA QUALITY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59368" y="3794760"/>
            <a:ext cx="2057400" cy="310896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705088" y="3803904"/>
            <a:ext cx="1965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KPI MEANING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36208" y="4453128"/>
            <a:ext cx="2057400" cy="310896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81928" y="4462272"/>
            <a:ext cx="1965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USER CONTEXT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659368" y="4453128"/>
            <a:ext cx="2057400" cy="310896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705088" y="4462272"/>
            <a:ext cx="1965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VISUAL CLARITY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36208" y="5111496"/>
            <a:ext cx="2057400" cy="310896"/>
          </a:xfrm>
          <a:prstGeom prst="roundRect">
            <a:avLst/>
          </a:prstGeom>
          <a:solidFill>
            <a:srgbClr val="1F2959"/>
          </a:solidFill>
          <a:ln w="12700">
            <a:solidFill>
              <a:srgbClr val="1F2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281928" y="5120640"/>
            <a:ext cx="1965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DECISION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19088" y="5518011"/>
            <a:ext cx="45720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dirty="0">
                <a:solidFill>
                  <a:srgbClr val="FFFFFF"/>
                </a:solidFill>
                <a:latin typeface="Aptos"/>
              </a:rPr>
              <a:t>Our project connects these pieces into one end-to-end workflow.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6F7E466-E2CC-1F3E-DA5A-6406B85BC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1475" y="44649"/>
            <a:ext cx="1371599" cy="6056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594360"/>
            <a:ext cx="10515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1F2959"/>
                </a:solidFill>
                <a:latin typeface="Aptos"/>
              </a:rPr>
              <a:t>The gap is integration, traceability and human-centered delivery.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47472"/>
            <a:ext cx="411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ptos"/>
              </a:rPr>
              <a:t>05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170432"/>
            <a:ext cx="1100023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417320"/>
            <a:ext cx="5166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73152" cy="1051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545336"/>
            <a:ext cx="475488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F2959"/>
                </a:solidFill>
                <a:latin typeface="Aptos"/>
              </a:rPr>
              <a:t>Research is fragmented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56232"/>
            <a:ext cx="47548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19" b="0">
                <a:solidFill>
                  <a:srgbClr val="475569"/>
                </a:solidFill>
                <a:latin typeface="Aptos"/>
              </a:rPr>
              <a:t>BI adoption, data understanding, dashboard UX and visual analytics are often studied separately.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166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73152" cy="1051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1545336"/>
            <a:ext cx="475488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F2959"/>
                </a:solidFill>
                <a:latin typeface="Aptos"/>
              </a:rPr>
              <a:t>Departments are fragmented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856232"/>
            <a:ext cx="47548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19" b="0">
                <a:solidFill>
                  <a:srgbClr val="475569"/>
                </a:solidFill>
                <a:latin typeface="Aptos"/>
              </a:rPr>
              <a:t>Sales, Finance, HR, Marketing and Operations use different dimensions and reporting cycles.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24912"/>
            <a:ext cx="5166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85800" y="2724912"/>
            <a:ext cx="73152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2852928"/>
            <a:ext cx="475488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F2959"/>
                </a:solidFill>
                <a:latin typeface="Aptos"/>
              </a:rPr>
              <a:t>Dashboards hide the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163824"/>
            <a:ext cx="47548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19" b="0">
                <a:solidFill>
                  <a:srgbClr val="475569"/>
                </a:solidFill>
                <a:latin typeface="Aptos"/>
              </a:rPr>
              <a:t>Many prototypes focus on the final visual layer instead of showing how KPI results are produced.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724912"/>
            <a:ext cx="5166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09360" y="2724912"/>
            <a:ext cx="73152" cy="10515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37960" y="2852928"/>
            <a:ext cx="475488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F2959"/>
                </a:solidFill>
                <a:latin typeface="Aptos"/>
              </a:rPr>
              <a:t>Personalization can add complexity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163824"/>
            <a:ext cx="47548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19" b="0">
                <a:solidFill>
                  <a:srgbClr val="475569"/>
                </a:solidFill>
                <a:latin typeface="Aptos"/>
              </a:rPr>
              <a:t>More customization is not always better; controlled role-based interaction is needed.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394960"/>
            <a:ext cx="5166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85800" y="5394960"/>
            <a:ext cx="73152" cy="1051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5522976"/>
            <a:ext cx="475488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F2959"/>
                </a:solidFill>
                <a:latin typeface="Aptos"/>
              </a:rPr>
              <a:t>Evaluation is incomplete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833872"/>
            <a:ext cx="47548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19" b="0">
                <a:solidFill>
                  <a:srgbClr val="475569"/>
                </a:solidFill>
                <a:latin typeface="Aptos"/>
              </a:rPr>
              <a:t>Accuracy, consistency, usability and decision usefulness should be considered together.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5394960"/>
            <a:ext cx="4572000" cy="1051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37960" y="5623560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99F6E4"/>
                </a:solidFill>
                <a:latin typeface="Aptos"/>
              </a:rPr>
              <a:t>GAP 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5532120"/>
            <a:ext cx="3246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dirty="0">
                <a:solidFill>
                  <a:srgbClr val="FFFFFF"/>
                </a:solidFill>
                <a:latin typeface="Aptos"/>
              </a:rPr>
              <a:t>One transparent path from data → KPI → dashboard → decision.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6F7E466-E2CC-1F3E-DA5A-6406B85BC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6576" y="38663"/>
            <a:ext cx="1371599" cy="6056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594360"/>
            <a:ext cx="10515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1F2959"/>
                </a:solidFill>
                <a:latin typeface="Aptos"/>
              </a:rPr>
              <a:t>A decision-first BI pipeline, not just a collection of charts.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47472"/>
            <a:ext cx="411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ptos"/>
              </a:rPr>
              <a:t>06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170432"/>
            <a:ext cx="1100023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2920" y="1874519"/>
            <a:ext cx="1234440" cy="9601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72" y="2039112"/>
            <a:ext cx="108813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DATA</a:t>
            </a:r>
            <a:br/>
            <a:r>
              <a:t>SOURCES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73936" y="2350008"/>
            <a:ext cx="210312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57400" y="1874519"/>
            <a:ext cx="1325880" cy="96012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30552" y="2039112"/>
            <a:ext cx="117957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ETL +</a:t>
            </a:r>
            <a:br/>
            <a:r>
              <a:t>QUALITY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19856" y="2350008"/>
            <a:ext cx="210312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703320" y="1874519"/>
            <a:ext cx="1508760" cy="96012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76472" y="2039112"/>
            <a:ext cx="136245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WAREHOUSE</a:t>
            </a:r>
            <a:br/>
            <a:r>
              <a:t>STAR SCHEMA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248655" y="2350008"/>
            <a:ext cx="256033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77840" y="1874519"/>
            <a:ext cx="1417320" cy="96012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50992" y="2039112"/>
            <a:ext cx="127101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KPI /</a:t>
            </a:r>
            <a:br/>
            <a:r>
              <a:t>SEMANTIC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031736" y="2350008"/>
            <a:ext cx="256032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60920" y="1874519"/>
            <a:ext cx="1417320" cy="9601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34072" y="2039112"/>
            <a:ext cx="127101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DASHBOARDS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14816" y="2350008"/>
            <a:ext cx="256032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44000" y="1874519"/>
            <a:ext cx="1554480" cy="960120"/>
          </a:xfrm>
          <a:prstGeom prst="roundRect">
            <a:avLst/>
          </a:prstGeom>
          <a:solidFill>
            <a:srgbClr val="1F2959"/>
          </a:solidFill>
          <a:ln w="12700">
            <a:solidFill>
              <a:srgbClr val="1F2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17152" y="2039112"/>
            <a:ext cx="140817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DECISION</a:t>
            </a:r>
            <a:br>
              <a:rPr dirty="0"/>
            </a:br>
            <a:r>
              <a:rPr dirty="0">
                <a:solidFill>
                  <a:schemeClr val="bg1"/>
                </a:solidFill>
              </a:rPr>
              <a:t>SUPPORT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127248"/>
            <a:ext cx="7863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475569"/>
                </a:solidFill>
                <a:latin typeface="Aptos"/>
              </a:rPr>
              <a:t>Sales • Finance • HR • Marketing • Operations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886200"/>
            <a:ext cx="3429000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4671" y="4005072"/>
            <a:ext cx="30175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F2959"/>
                </a:solidFill>
                <a:latin typeface="Aptos"/>
              </a:rPr>
              <a:t>Decision-first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" y="4270248"/>
            <a:ext cx="30175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0">
                <a:solidFill>
                  <a:srgbClr val="475569"/>
                </a:solidFill>
                <a:latin typeface="Aptos"/>
              </a:rPr>
              <a:t>Start with the question, then choose the KPI and visual.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34840" y="3886200"/>
            <a:ext cx="3429000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99432" y="4005072"/>
            <a:ext cx="30175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F2959"/>
                </a:solidFill>
                <a:latin typeface="Aptos"/>
              </a:rPr>
              <a:t>Cross-functional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9432" y="4270248"/>
            <a:ext cx="30175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0">
                <a:solidFill>
                  <a:srgbClr val="475569"/>
                </a:solidFill>
                <a:latin typeface="Aptos"/>
              </a:rPr>
              <a:t>Shared dimensions make departmental performance comparable.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3886200"/>
            <a:ext cx="3429000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94192" y="4005072"/>
            <a:ext cx="30175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F2959"/>
                </a:solidFill>
                <a:latin typeface="Aptos"/>
              </a:rPr>
              <a:t>Traceable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270248"/>
            <a:ext cx="30175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0">
                <a:solidFill>
                  <a:srgbClr val="475569"/>
                </a:solidFill>
                <a:latin typeface="Aptos"/>
              </a:rPr>
              <a:t>Every major visual can be linked back to a KPI definition and curated data.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120640"/>
            <a:ext cx="3429000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4671" y="5239512"/>
            <a:ext cx="30175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F2959"/>
                </a:solidFill>
                <a:latin typeface="Aptos"/>
              </a:rPr>
              <a:t>Human-centered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1" y="5504688"/>
            <a:ext cx="30175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0">
                <a:solidFill>
                  <a:srgbClr val="475569"/>
                </a:solidFill>
                <a:latin typeface="Aptos"/>
              </a:rPr>
              <a:t>Summary first; detail through filters and controlled drill-down.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34840" y="5120640"/>
            <a:ext cx="3429000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99432" y="5239512"/>
            <a:ext cx="30175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F2959"/>
                </a:solidFill>
                <a:latin typeface="Aptos"/>
              </a:rPr>
              <a:t>Future-ready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99432" y="5504688"/>
            <a:ext cx="30175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0">
                <a:solidFill>
                  <a:srgbClr val="475569"/>
                </a:solidFill>
                <a:latin typeface="Aptos"/>
              </a:rPr>
              <a:t>Designed to extend into forecasting, anomaly detection and natural-language BI.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6F7E466-E2CC-1F3E-DA5A-6406B85BC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39006"/>
            <a:ext cx="1371599" cy="6056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594360"/>
            <a:ext cx="10515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1F2959"/>
                </a:solidFill>
                <a:latin typeface="Aptos"/>
              </a:rPr>
              <a:t>Yes — the scope is realistic, measurable and staged.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47472"/>
            <a:ext cx="411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ptos"/>
              </a:rPr>
              <a:t>07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170432"/>
            <a:ext cx="1100023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417320"/>
            <a:ext cx="37033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3108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2959"/>
                </a:solidFill>
                <a:latin typeface="Aptos"/>
              </a:rPr>
              <a:t>FEASIBILITY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240280"/>
            <a:ext cx="1051560" cy="310896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249424"/>
            <a:ext cx="96011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TECHNICAL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2221992"/>
            <a:ext cx="1828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Aptos"/>
              </a:rPr>
              <a:t>Python • Pandas • SQL/PostgreSQL • Power BI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898648"/>
            <a:ext cx="1051560" cy="310896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2907791"/>
            <a:ext cx="96011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880360"/>
            <a:ext cx="1828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Aptos"/>
              </a:rPr>
              <a:t>Public business datasets + controlled integration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557016"/>
            <a:ext cx="1051560" cy="310896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566160"/>
            <a:ext cx="96011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3538728"/>
            <a:ext cx="1828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Aptos"/>
              </a:rPr>
              <a:t>Open-source tools + academic/free tiers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215384"/>
            <a:ext cx="1051560" cy="310896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4224528"/>
            <a:ext cx="96011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OPERATIONS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4197096"/>
            <a:ext cx="1828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Aptos"/>
              </a:rPr>
              <a:t>Simple KPIs, filters, drill-downs and role views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873752"/>
            <a:ext cx="1051560" cy="310896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4882896"/>
            <a:ext cx="96011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4855464"/>
            <a:ext cx="1828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Aptos"/>
              </a:rPr>
              <a:t>8-week staged implementation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1719072"/>
            <a:ext cx="3840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2959"/>
                </a:solidFill>
                <a:latin typeface="Aptos"/>
              </a:rPr>
              <a:t>8-WEEK EXECUTION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2240280"/>
            <a:ext cx="144475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18888" y="2350008"/>
            <a:ext cx="11887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563EB"/>
                </a:solidFill>
                <a:latin typeface="Aptos"/>
              </a:rPr>
              <a:t>W1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8888" y="2660904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19" b="1">
                <a:solidFill>
                  <a:srgbClr val="1F2959"/>
                </a:solidFill>
                <a:latin typeface="Aptos"/>
              </a:rPr>
              <a:t>Problem + literature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2240280"/>
            <a:ext cx="144475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64808" y="2350008"/>
            <a:ext cx="11887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D9488"/>
                </a:solidFill>
                <a:latin typeface="Aptos"/>
              </a:rPr>
              <a:t>W2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4808" y="2660904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19" b="1">
                <a:solidFill>
                  <a:srgbClr val="1F2959"/>
                </a:solidFill>
                <a:latin typeface="Aptos"/>
              </a:rPr>
              <a:t>Data + profiling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01000" y="2240280"/>
            <a:ext cx="144475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10727" y="2350008"/>
            <a:ext cx="11887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59E0B"/>
                </a:solidFill>
                <a:latin typeface="Aptos"/>
              </a:rPr>
              <a:t>W3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10727" y="2660904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19" b="1">
                <a:solidFill>
                  <a:srgbClr val="1F2959"/>
                </a:solidFill>
                <a:latin typeface="Aptos"/>
              </a:rPr>
              <a:t>ETL + validation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46920" y="2240280"/>
            <a:ext cx="144475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756648" y="2350008"/>
            <a:ext cx="11887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6B6D4"/>
                </a:solidFill>
                <a:latin typeface="Aptos"/>
              </a:rPr>
              <a:t>W4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56648" y="2660904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19" b="1">
                <a:solidFill>
                  <a:srgbClr val="1F2959"/>
                </a:solidFill>
                <a:latin typeface="Aptos"/>
              </a:rPr>
              <a:t>Warehouse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09160" y="3657600"/>
            <a:ext cx="144475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818888" y="3767328"/>
            <a:ext cx="11887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563EB"/>
                </a:solidFill>
                <a:latin typeface="Aptos"/>
              </a:rPr>
              <a:t>W5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18888" y="4078224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19" b="1">
                <a:solidFill>
                  <a:srgbClr val="1F2959"/>
                </a:solidFill>
                <a:latin typeface="Aptos"/>
              </a:rPr>
              <a:t>EDA + KPIs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55080" y="3657600"/>
            <a:ext cx="144475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64808" y="3767328"/>
            <a:ext cx="11887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D9488"/>
                </a:solidFill>
                <a:latin typeface="Aptos"/>
              </a:rPr>
              <a:t>W6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4808" y="4078224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19" b="1">
                <a:solidFill>
                  <a:srgbClr val="1F2959"/>
                </a:solidFill>
                <a:latin typeface="Aptos"/>
              </a:rPr>
              <a:t>Dashboards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01000" y="3657600"/>
            <a:ext cx="144475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10727" y="3767328"/>
            <a:ext cx="11887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59E0B"/>
                </a:solidFill>
                <a:latin typeface="Aptos"/>
              </a:rPr>
              <a:t>W7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10727" y="4078224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19" b="1">
                <a:solidFill>
                  <a:srgbClr val="1F2959"/>
                </a:solidFill>
                <a:latin typeface="Aptos"/>
              </a:rPr>
              <a:t>Testing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646920" y="3657600"/>
            <a:ext cx="144475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756648" y="3767328"/>
            <a:ext cx="11887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6B6D4"/>
                </a:solidFill>
                <a:latin typeface="Aptos"/>
              </a:rPr>
              <a:t>W8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56648" y="4078224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19" b="1">
                <a:solidFill>
                  <a:srgbClr val="1F2959"/>
                </a:solidFill>
                <a:latin typeface="Aptos"/>
              </a:rPr>
              <a:t>Report + review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709160" y="5212080"/>
            <a:ext cx="6400800" cy="7315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983480" y="5376672"/>
            <a:ext cx="58521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Build → validate → evaluate → improve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6F7E466-E2CC-1F3E-DA5A-6406B85BC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45721"/>
            <a:ext cx="1371599" cy="6056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8368" y="1192173"/>
            <a:ext cx="6583680" cy="86177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dirty="0">
                <a:solidFill>
                  <a:srgbClr val="FFFFFF"/>
                </a:solidFill>
                <a:latin typeface="Aptos"/>
              </a:rPr>
              <a:t>From scattered data</a:t>
            </a:r>
            <a:br>
              <a:rPr dirty="0"/>
            </a:br>
            <a:r>
              <a:rPr dirty="0">
                <a:solidFill>
                  <a:schemeClr val="bg1"/>
                </a:solidFill>
              </a:rPr>
              <a:t>to confident decisions.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61264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ptos"/>
              </a:rPr>
              <a:t>The project turns the literature gap into a practical, measurable and human-centered BI solution.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86200"/>
            <a:ext cx="1170432" cy="566928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LITERATURE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29967" y="3575304"/>
            <a:ext cx="1170432" cy="566928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75687" y="3712464"/>
            <a:ext cx="1078992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GAP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4136" y="3264408"/>
            <a:ext cx="1170432" cy="566928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19856" y="3401568"/>
            <a:ext cx="1078992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OBJECTIVES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18304" y="2953512"/>
            <a:ext cx="1170432" cy="566928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64024" y="3090672"/>
            <a:ext cx="1078992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INNOVATION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8272" y="2642615"/>
            <a:ext cx="1170432" cy="566928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08272" y="2830068"/>
            <a:ext cx="1078992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 dirty="0">
                <a:solidFill>
                  <a:srgbClr val="FFFFFF"/>
                </a:solidFill>
                <a:latin typeface="Aptos"/>
              </a:rPr>
              <a:t>PLAN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005840"/>
            <a:ext cx="3886200" cy="4892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55279" y="2177713"/>
            <a:ext cx="3063240" cy="1908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  <a:latin typeface="Aptos"/>
              </a:rPr>
              <a:t>We are not building</a:t>
            </a:r>
            <a:br>
              <a:rPr dirty="0"/>
            </a:br>
            <a:r>
              <a:rPr sz="2400" b="1" dirty="0">
                <a:solidFill>
                  <a:schemeClr val="bg1"/>
                </a:solidFill>
              </a:rPr>
              <a:t>a dashboard</a:t>
            </a:r>
            <a:r>
              <a:rPr dirty="0">
                <a:solidFill>
                  <a:schemeClr val="bg1"/>
                </a:solidFill>
              </a:rPr>
              <a:t>.</a:t>
            </a:r>
            <a:br>
              <a:rPr dirty="0">
                <a:solidFill>
                  <a:schemeClr val="bg1"/>
                </a:solidFill>
              </a:rPr>
            </a:b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We are building the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pipeline that makes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the dashboard useful.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4937760"/>
            <a:ext cx="30632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E2E8F0"/>
                </a:solidFill>
                <a:latin typeface="Aptos"/>
              </a:rPr>
              <a:t>Data → KPI → Insight →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799" y="5826177"/>
            <a:ext cx="3060291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 dirty="0">
                <a:solidFill>
                  <a:srgbClr val="FFFFFF"/>
                </a:solidFill>
                <a:latin typeface="Aptos"/>
              </a:rPr>
              <a:t>THANK YOU</a:t>
            </a:r>
            <a:endParaRPr lang="en-US" sz="3600" b="1" dirty="0">
              <a:solidFill>
                <a:srgbClr val="FFFFFF"/>
              </a:solidFill>
              <a:latin typeface="Apto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6F7E466-E2CC-1F3E-DA5A-6406B85BC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1307"/>
            <a:ext cx="1371599" cy="6056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1053</Words>
  <Application>Microsoft Office PowerPoint</Application>
  <PresentationFormat>Widescreen</PresentationFormat>
  <Paragraphs>178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sesank yennam</dc:creator>
  <cp:keywords/>
  <dc:description>generated using python-pptx</dc:description>
  <cp:lastModifiedBy>sesank yennam</cp:lastModifiedBy>
  <cp:revision>4</cp:revision>
  <dcterms:created xsi:type="dcterms:W3CDTF">2013-01-27T09:14:16Z</dcterms:created>
  <dcterms:modified xsi:type="dcterms:W3CDTF">2026-08-13T09:01:53Z</dcterms:modified>
  <cp:category/>
</cp:coreProperties>
</file>