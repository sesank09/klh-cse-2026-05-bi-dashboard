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71" r:id="rId11"/>
    <p:sldId id="272" r:id="rId12"/>
    <p:sldId id="262" r:id="rId13"/>
    <p:sldId id="263" r:id="rId14"/>
    <p:sldId id="264" r:id="rId15"/>
    <p:sldId id="265" r:id="rId16"/>
    <p:sldId id="266" r:id="rId17"/>
    <p:sldId id="267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336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15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65105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2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 Project • Review-2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2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BI Dashboard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i-dashboard-05-dav-project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i-dashboard-05-dav-project.vercel.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183880" y="-548640"/>
            <a:ext cx="4389120" cy="4389120"/>
          </a:xfrm>
          <a:prstGeom prst="arc">
            <a:avLst/>
          </a:prstGeom>
          <a:noFill/>
          <a:ln w="12700">
            <a:solidFill>
              <a:srgbClr val="29C7D6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732520" y="457200"/>
            <a:ext cx="3383280" cy="3383280"/>
          </a:xfrm>
          <a:prstGeom prst="arc">
            <a:avLst/>
          </a:prstGeom>
          <a:noFill/>
          <a:ln w="12700">
            <a:solidFill>
              <a:srgbClr val="0FA3B1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269480" y="2743200"/>
            <a:ext cx="4754880" cy="4754880"/>
          </a:xfrm>
          <a:prstGeom prst="arc">
            <a:avLst/>
          </a:prstGeom>
          <a:noFill/>
          <a:ln w="12700">
            <a:solidFill>
              <a:srgbClr val="7357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566928"/>
            <a:ext cx="2697480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94944" y="598932"/>
            <a:ext cx="2587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ANALYTICS &amp; VISUALIZATION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566949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Enterprise Business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Intelligence Dashboard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32735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sp>
        <p:nvSpPr>
          <p:cNvPr id="11" name="Text 9"/>
          <p:cNvSpPr/>
          <p:nvPr/>
        </p:nvSpPr>
        <p:spPr>
          <a:xfrm>
            <a:off x="640080" y="3496333"/>
            <a:ext cx="646148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sv-SE" sz="2000" b="1" dirty="0">
                <a:solidFill>
                  <a:schemeClr val="bg1"/>
                </a:solidFill>
              </a:rPr>
              <a:t>Batch – 05 :</a:t>
            </a:r>
          </a:p>
          <a:p>
            <a:r>
              <a:rPr lang="sv-SE" sz="2000" b="1" dirty="0">
                <a:solidFill>
                  <a:schemeClr val="bg1"/>
                </a:solidFill>
              </a:rPr>
              <a:t>Sesank Reddy – 2420030161</a:t>
            </a:r>
          </a:p>
          <a:p>
            <a:r>
              <a:rPr lang="sv-SE" sz="2000" b="1" dirty="0">
                <a:solidFill>
                  <a:schemeClr val="bg1"/>
                </a:solidFill>
              </a:rPr>
              <a:t>Sai Sri Harsha – 2420030190</a:t>
            </a:r>
          </a:p>
          <a:p>
            <a:r>
              <a:rPr lang="sv-SE" sz="2000" b="1" dirty="0">
                <a:solidFill>
                  <a:schemeClr val="bg1"/>
                </a:solidFill>
              </a:rPr>
              <a:t>Sathwik               - 2420030048</a:t>
            </a:r>
          </a:p>
          <a:p>
            <a:r>
              <a:rPr lang="sv-SE" sz="2000" b="1" dirty="0">
                <a:solidFill>
                  <a:schemeClr val="bg1"/>
                </a:solidFill>
              </a:rPr>
              <a:t>Anajan Reddy  -  2420030750</a:t>
            </a:r>
          </a:p>
          <a:p>
            <a:endParaRPr lang="sv-SE" sz="2000" b="1" dirty="0">
              <a:solidFill>
                <a:schemeClr val="bg1"/>
              </a:solidFill>
            </a:endParaRP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Department of Computer Science and Engineering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KLH Hyderabad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09560" y="3794760"/>
            <a:ext cx="3474720" cy="1417320"/>
          </a:xfrm>
          <a:prstGeom prst="roundRect">
            <a:avLst>
              <a:gd name="adj" fmla="val 9032"/>
            </a:avLst>
          </a:prstGeom>
          <a:solidFill>
            <a:srgbClr val="122A4B"/>
          </a:solidFill>
          <a:ln w="12700">
            <a:solidFill>
              <a:srgbClr val="2448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83880" y="4041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6CF"/>
                </a:solidFill>
              </a:rPr>
              <a:t>LIVE PROJECT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66176" y="44074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BI Dashboard</a:t>
            </a:r>
            <a:endParaRPr lang="en-US" sz="2300" dirty="0"/>
          </a:p>
        </p:txBody>
      </p:sp>
      <p:sp>
        <p:nvSpPr>
          <p:cNvPr id="15" name="Text 13">
            <a:hlinkClick r:id="rId3"/>
          </p:cNvPr>
          <p:cNvSpPr/>
          <p:nvPr/>
        </p:nvSpPr>
        <p:spPr>
          <a:xfrm>
            <a:off x="8183880" y="49560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u="sng" dirty="0">
                <a:solidFill>
                  <a:srgbClr val="29C7D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bi-dashboard-05-dav-project.vercel.app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58368" y="59618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4BD"/>
                </a:solidFill>
              </a:rPr>
              <a:t>Review focus: show the implemented system, prove that it runs, and explain the analytical output.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Review-2 Scope &amp; Project Goal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The review is evaluated on implementation, execution/functionality, and results obtained with analysis.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087368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42232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89520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44384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673352"/>
            <a:ext cx="3063240" cy="425196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87368" y="1673352"/>
            <a:ext cx="3063240" cy="425196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89520" y="1673352"/>
            <a:ext cx="3977640" cy="425196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19385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Project Implementation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2487168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End-to-end BI dashboard artifact implemented as a web application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Data-to-visualization flow designed for organizational performance analysis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Reusable KPI, filter, comparison and reporting structure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Deployed project output available for live demonstration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5968" y="19385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Execution &amp; Functionality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15968" y="2423160"/>
            <a:ext cx="2487168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Dashboard loads as a working interface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Interactive views are organized around KPIs and charts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Filters and analytical navigation are part of the workflow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User can move from summary to detailed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45552" y="193852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Results &amp; Analysis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45552" y="2423160"/>
            <a:ext cx="315468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Visual outputs convert raw records into decision-ready summaries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Trend and comparison views reveal changes across dimensions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Results are interpreted through KPI context, not chart appearance alone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Performance and quality gaps are identified for next iteration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6144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84"/>
                </a:solidFill>
              </a:rPr>
              <a:t>Core project question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61081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How can organizational data be transformed into an interactive, reliable and interpretable BI dashboard for practical decision support?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Project Implementation – End-to-End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The implementation separates data handling, analytics logic, visualization and user interaction so each layer can be tested independently.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5528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SOURCES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Structured records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CSV / DB / APIs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07792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21466C"/>
          </a:solidFill>
          <a:ln w="12700">
            <a:solidFill>
              <a:srgbClr val="2146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26664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Validation • cleaning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transformations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82312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9784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166D78"/>
          </a:solidFill>
          <a:ln w="12700">
            <a:solidFill>
              <a:srgbClr val="166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39512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ANALYTICAL LAYER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48656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Dimensions • measures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KPI logic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04304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51776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0C8A91"/>
          </a:solidFill>
          <a:ln w="12700">
            <a:solidFill>
              <a:srgbClr val="0C8A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61504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BI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70648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KPI cards • charts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filters • detail views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26296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73768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5C4B9B"/>
          </a:solidFill>
          <a:ln w="12700">
            <a:solidFill>
              <a:srgbClr val="5C4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83496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DECISION SUPPORT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92640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Compare • diagnose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report • act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101955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43584" y="4517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</a:rPr>
              <a:t>Implementation principle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44368" y="442569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82437"/>
                </a:solidFill>
              </a:rPr>
              <a:t>Business definitions are centralized: the same KPI should return the same value across cards, charts, tables and exports for the same filter context.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51560" y="56967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27084"/>
                </a:solidFill>
              </a:rPr>
              <a:t>Review-2 evidence: architecture demonstrates how the project moves from implementation to an observable dashboard output.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Project Implementation – Major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The dashboard is presented as a set of focused modules, each responsible for one part of the analytics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655064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Data Ingestion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Load structured records and retain source context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73952" y="1655064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3952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Data Validation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Check completeness, validity, duplicates and consistency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072384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" y="3182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008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KPI Engine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3273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Calculate growth, achievement and performance measures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73952" y="3072384"/>
            <a:ext cx="566928" cy="566928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73952" y="3182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3008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Visualization Layer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273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Convert measures into charts, tables and trend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25196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0392" y="4489704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0392" y="45994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4425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Interaction Layer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54480" y="4690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Filters, selections, comparisons and drill-down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25196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73952" y="4489704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73952" y="45994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4425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Reporting Layer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4690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Summarize the current analytical state for review/export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27084"/>
                </a:solidFill>
              </a:rPr>
              <a:t>Implementation outcome: modularity makes the system easier to validate, debug and extend with forecasting or anomaly analysis later.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Implementation Details – Tools, Technologies &amp; Engineering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Technology choices are presented at the role level so the review focuses on what each technology contributes to the dashboard.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560320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WEB 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Frontend 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Responsive layout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Component-based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560320" cy="10058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2102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DATA &amp;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Data ingestion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Cleaning &amp; 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KPI/business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1600200"/>
            <a:ext cx="2560320" cy="100584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0138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VISUAL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Interactive charts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Tables &amp; comparisons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Trend representations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1600200"/>
            <a:ext cx="2560320" cy="100584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8174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Cloud deployment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HTTPS endpoint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Live project URL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822192"/>
            <a:ext cx="10954512" cy="1499616"/>
          </a:xfrm>
          <a:prstGeom prst="roundRect">
            <a:avLst>
              <a:gd name="adj" fmla="val 853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0965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C7D6"/>
                </a:solidFill>
              </a:rPr>
              <a:t>Engineering practices emphasized in Review-2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416552"/>
            <a:ext cx="100126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Centralize KPI definitions to avoid inconsistent calculations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Keep large-data processing off the browser where possible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Use loading, empty-state and error-state handling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Measure web performance before making optimization claims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5806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84"/>
                </a:solidFill>
              </a:rPr>
              <a:t>Deployment endpoint</a:t>
            </a:r>
            <a:endParaRPr lang="en-US" sz="900" dirty="0"/>
          </a:p>
        </p:txBody>
      </p:sp>
      <p:sp>
        <p:nvSpPr>
          <p:cNvPr id="24" name="Text 22">
            <a:hlinkClick r:id="rId3"/>
          </p:cNvPr>
          <p:cNvSpPr/>
          <p:nvPr/>
        </p:nvSpPr>
        <p:spPr>
          <a:xfrm>
            <a:off x="1920240" y="57698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FA3B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https://bi-dashboard-05-dav-project.vercel.app/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Output – BI Dashboard Interface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Editable recreation of the dashboard output for the review presentation. The live deployment can be opened during the demo.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11045952" cy="4983480"/>
          </a:xfrm>
          <a:prstGeom prst="roundRect">
            <a:avLst>
              <a:gd name="adj" fmla="val 2569"/>
            </a:avLst>
          </a:prstGeom>
          <a:solidFill>
            <a:srgbClr val="EEF3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847088" cy="4983480"/>
          </a:xfrm>
          <a:prstGeom prst="rect">
            <a:avLst/>
          </a:prstGeom>
          <a:solidFill>
            <a:srgbClr val="0E2747"/>
          </a:solidFill>
          <a:ln w="12700">
            <a:solidFill>
              <a:srgbClr val="0E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BI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DASHBOARD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58952" y="2450592"/>
            <a:ext cx="1444752" cy="356616"/>
          </a:xfrm>
          <a:prstGeom prst="roundRect">
            <a:avLst>
              <a:gd name="adj" fmla="val 12821"/>
            </a:avLst>
          </a:prstGeom>
          <a:solidFill>
            <a:srgbClr val="16476A"/>
          </a:solidFill>
          <a:ln w="12700">
            <a:solidFill>
              <a:srgbClr val="164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9C7D6"/>
                </a:solidFill>
              </a:rPr>
              <a:t>Overview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Departments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Employees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5354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0474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Reports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79192" y="1481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Organizational Performance Overview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0104120" y="1463040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58984" y="14950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2026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844784" y="1463040"/>
            <a:ext cx="612648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899648" y="14950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ALL DEPARTMENTS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33472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33472" y="1874520"/>
            <a:ext cx="64008" cy="9601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98064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7084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98064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₹ —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798064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B57"/>
                </a:solidFill>
              </a:rPr>
              <a:t>Current 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0016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0016" y="1874520"/>
            <a:ext cx="64008" cy="960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7084"/>
                </a:solidFill>
              </a:rPr>
              <a:t>TARGET ACHIEVEMENT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 %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4864608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B57"/>
                </a:solidFill>
              </a:rPr>
              <a:t>Filter aware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66560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874520"/>
            <a:ext cx="64008" cy="960120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31152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7084"/>
                </a:solidFill>
              </a:rPr>
              <a:t>PERFORMANCE SCORE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31152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6931152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B57"/>
                </a:solidFill>
              </a:rPr>
              <a:t>Normalized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833104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833104" y="1874520"/>
            <a:ext cx="64008" cy="96012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97696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7084"/>
                </a:solidFill>
              </a:rPr>
              <a:t>DATA COMPLETENESS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97696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 %</a:t>
            </a:r>
            <a:endParaRPr lang="en-US" sz="2300" dirty="0"/>
          </a:p>
        </p:txBody>
      </p:sp>
      <p:sp>
        <p:nvSpPr>
          <p:cNvPr id="38" name="Text 36"/>
          <p:cNvSpPr/>
          <p:nvPr/>
        </p:nvSpPr>
        <p:spPr>
          <a:xfrm>
            <a:off x="8997696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B57"/>
                </a:solidFill>
              </a:rPr>
              <a:t>Validated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33472" y="3044952"/>
            <a:ext cx="48463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62072" y="3255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Performance Trend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862072" y="3529584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27084"/>
                </a:solidFill>
              </a:rPr>
              <a:t>Trend is interpreted within the active filter and time context.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07792" y="4809744"/>
            <a:ext cx="795528" cy="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703320" y="4572000"/>
            <a:ext cx="722376" cy="13716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425696" y="4709160"/>
            <a:ext cx="713232" cy="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38928" y="4279392"/>
            <a:ext cx="694944" cy="13716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833872" y="4416552"/>
            <a:ext cx="704088" cy="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537960" y="3931920"/>
            <a:ext cx="704088" cy="109728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866644" y="4768596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662172" y="453085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384548" y="466801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97780" y="4238244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792724" y="4375404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496812" y="389077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200900" y="4000500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88920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Q1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02152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Q2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15384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Q3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28616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641848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355080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Q6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068312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Q7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653528" y="3044952"/>
            <a:ext cx="3118104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872984" y="3255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Department Comparison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872984" y="371246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2437"/>
                </a:solidFill>
              </a:rPr>
              <a:t>Sales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8705088" y="3721608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705088" y="3721608"/>
            <a:ext cx="1428659" cy="155448"/>
          </a:xfrm>
          <a:prstGeom prst="roundRect">
            <a:avLst>
              <a:gd name="adj" fmla="val 23529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872984" y="40873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2437"/>
                </a:solidFill>
              </a:rPr>
              <a:t>Engineering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705088" y="4096512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705088" y="4096512"/>
            <a:ext cx="1198230" cy="155448"/>
          </a:xfrm>
          <a:prstGeom prst="roundRect">
            <a:avLst>
              <a:gd name="adj" fmla="val 23529"/>
            </a:avLst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872984" y="446227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2437"/>
                </a:solidFill>
              </a:rPr>
              <a:t>Finance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8705088" y="4471416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705088" y="4471416"/>
            <a:ext cx="1013887" cy="155448"/>
          </a:xfrm>
          <a:prstGeom prst="roundRect">
            <a:avLst>
              <a:gd name="adj" fmla="val 23529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872984" y="483717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2437"/>
                </a:solidFill>
              </a:rPr>
              <a:t>HR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8705088" y="4846320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705088" y="4846320"/>
            <a:ext cx="890991" cy="155448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633472" y="5541264"/>
            <a:ext cx="8138160" cy="466344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834640" y="5678424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Insight workflow: KPI → filter/compare → drill down → explain the change → report</a:t>
            </a:r>
            <a:endParaRPr lang="en-US" sz="95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ACTUAL PROJECT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Live Dashboard Evidence — Review-2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Four captured screens from the deployed BI dashboard show implementation, execution, and analytical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700784"/>
            <a:ext cx="5559552" cy="1627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1985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Executive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700784"/>
            <a:ext cx="5559552" cy="1627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41985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Sales &amp;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65760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in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712464"/>
            <a:ext cx="5559552" cy="1627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543153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Finance &amp; Cash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ns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712464"/>
            <a:ext cx="5559552" cy="1627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0" y="543153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Business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Executive BI — Organizational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High-level KPI monitoring and cross-departmental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Executive Performance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KPI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Revenue, profit, margin, growth, customer value and employee productivity are visible in one executive 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Global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Date, region, department, category and customer-segment filters provide a shared analytical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Revenue/profit trend and revenue contribution visuals support deeper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Sales &amp; Revenue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Revenue, orders, average order value and quota-achievement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Sales &amp; Revenue Operations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Core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Sales revenue ₹23,31,50,101.47 • 12,500 orders • AOV ₹18,652.01 • quota achievement 94%.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Monthly actual revenue is compared against sales quota for target tracking.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Performance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Leaderboard and customer-segment views support sales-team and market-segment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Financial &amp; Cash Flow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P&amp;L, operating expenditure, profit margin and cash-flow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Financial &amp; Cash Flow Analytics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Financial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Gross revenue ₹23,31,50,101.47 • operating expense ₹7,82,28,509.72 • net profit ₹10,07,11,852.06.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Profitability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Profit margin is displayed at 43.2% alongside the trend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Cash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Net cash flow is shown as ₹6,11,46,190.12 with an operating-expense breakdown.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Automated Business Insights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Evidence-driven findings, contextual metrics, estimated impact and strategic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Automated Business Insights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Regional margin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Middle East &amp; Africa: ₹48,279,757 revenue and 43.0% margin; compared with Latin America at 43.4%.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Marketing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Events &amp; Webinars is shown with 9726.7% marketing ROI plus revenue, spend and CAC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Recommendation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Each insight is structured as finding/context → empirical evidence → estimated impact → recommended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&amp; Functionality – Demonstration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This is the sequence to follow during the live Review-2 demonstration.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27632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Open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Launch the deployed BI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1627632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Inspect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5780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Read KPIs and current dashboard state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1627632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Filter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6112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Change time / organizational 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3685032"/>
            <a:ext cx="566928" cy="566928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Compare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5448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Identify differences across units or periods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168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3685032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Drill Down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5780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Move from summary to detailed records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500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0" y="3685032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Report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96112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Explain result and export/share the 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991088" y="1783080"/>
            <a:ext cx="411480" cy="411480"/>
          </a:xfrm>
          <a:prstGeom prst="chevron">
            <a:avLst/>
          </a:prstGeom>
          <a:solidFill>
            <a:srgbClr val="29C7D6"/>
          </a:solidFill>
          <a:ln w="12700">
            <a:solidFill>
              <a:srgbClr val="29C7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1560" y="57790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27084"/>
                </a:solidFill>
              </a:rPr>
              <a:t>Live demo cue: keep the dashboard open on one screen and this slide on the presentation timeline so the evaluator can map each action to the function under review.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&amp; Functionality – What the Dashboard Delivers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Core functions are grouped by the analytical job they help the user perform.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01168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MONITOR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KPI cards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Current state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Trend indicators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35024" y="3172968"/>
            <a:ext cx="475488" cy="256032"/>
          </a:xfrm>
          <a:prstGeom prst="chevron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43784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43784" y="1481328"/>
            <a:ext cx="2011680" cy="7315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53512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FILTER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81528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Time period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Department / unit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Context reset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3172968"/>
            <a:ext cx="475488" cy="256032"/>
          </a:xfrm>
          <a:prstGeom prst="chevron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0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1481328"/>
            <a:ext cx="2011680" cy="73152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COMPARE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58384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Period vs period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Unit vs unit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Target vs actual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88736" y="3172968"/>
            <a:ext cx="475488" cy="256032"/>
          </a:xfrm>
          <a:prstGeom prst="chevron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97496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97496" y="1481328"/>
            <a:ext cx="2011680" cy="73152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07224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DIAGNOSE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35240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Drill-down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Segment contribution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Supporting table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65592" y="3172968"/>
            <a:ext cx="475488" cy="256032"/>
          </a:xfrm>
          <a:prstGeom prst="chevron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674352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74352" y="1481328"/>
            <a:ext cx="201168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840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COMMUNICATE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912096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Summary view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Export / report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Decision context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42448" y="3172968"/>
            <a:ext cx="475488" cy="256032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6928" y="3977640"/>
            <a:ext cx="10954512" cy="1517904"/>
          </a:xfrm>
          <a:prstGeom prst="roundRect">
            <a:avLst>
              <a:gd name="adj" fmla="val 8434"/>
            </a:avLst>
          </a:prstGeom>
          <a:solidFill>
            <a:srgbClr val="EDF7F8"/>
          </a:solidFill>
          <a:ln w="12700">
            <a:solidFill>
              <a:srgbClr val="B7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2702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B1"/>
                </a:solidFill>
              </a:rPr>
              <a:t>Functionality validation logic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52928" y="4169664"/>
            <a:ext cx="8183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82437"/>
                </a:solidFill>
              </a:rPr>
              <a:t>A valid filter must change every linked visual consistently. A valid KPI must match an independent calculation. A valid drill-down must preserve context. A valid report must reflect the active filter state.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580644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Result: the dashboard is evaluated as a workflow, not as a collection of disconnected charts.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Results Obtained – Implemented Dashboard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Results are presented as observed analytical outputs rather than unsupported numerical claims.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6596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22376" y="1536192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Output area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06040" y="1417320"/>
            <a:ext cx="43434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88336" y="1536192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Observed result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417320"/>
            <a:ext cx="38862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31736" y="1536192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Analysis / value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" y="1975104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KPI overview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1847088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88336" y="1975104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Consolidated performance indicators in a single 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1847088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31736" y="1975104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Reduces the need to assemble separate reports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615184"/>
            <a:ext cx="196596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" y="2743200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Trend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615184"/>
            <a:ext cx="43434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88336" y="2743200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Time-based visualization of changing performance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2615184"/>
            <a:ext cx="38862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31736" y="2743200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Makes direction and turning points easier to inspect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2376" y="3511296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Comparison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06040" y="3383280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88336" y="3511296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Cross-unit / cross-period comparison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3383280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31736" y="3511296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Helps identify relative under- and over-performance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51376"/>
            <a:ext cx="196596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2376" y="4279392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Interactive context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4151376"/>
            <a:ext cx="43434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88336" y="4279392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Filter-driven analytical views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49440" y="4151376"/>
            <a:ext cx="38862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31736" y="4279392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Lets the user focus on the relevant population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919472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2376" y="5047488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Decision workflow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06040" y="4919472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88336" y="5047488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Summary → compare → drill down → report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49440" y="4919472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31736" y="5047488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Connects observation to explanation and communication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824728"/>
            <a:ext cx="10716768" cy="411480"/>
          </a:xfrm>
          <a:prstGeom prst="roundRect">
            <a:avLst>
              <a:gd name="adj" fmla="val 31111"/>
            </a:avLst>
          </a:prstGeom>
          <a:solidFill>
            <a:srgbClr val="FFF7E8"/>
          </a:solidFill>
          <a:ln w="12700">
            <a:solidFill>
              <a:srgbClr val="F5D5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0392" y="5943600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A17"/>
                </a:solidFill>
              </a:rPr>
              <a:t>Publication integrity note: no fabricated accuracy, latency or user-study values are shown here. Those measurements should be added after controlled testing.</a:t>
            </a:r>
            <a:endParaRPr lang="en-US" sz="9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Results Analysis – Quality, Performance &amp; Reliability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Review-2 should show not only what works, but how the implementation will be judged for quality.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201168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 area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78608" y="1353312"/>
            <a:ext cx="36576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analyzed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1353312"/>
            <a:ext cx="452628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to capture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892808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Functional correctness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578608" y="178308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892808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Filters, sorting, drill-down, export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892808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Scenario tests + expected/actual comparison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66928" y="2441448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551176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Data integrity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578608" y="2441448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25511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Completeness, duplicates, reconciliation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236208" y="2441448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2551176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Independent reference calculation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66928" y="309981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209544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Web performance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578608" y="309981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3209544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LCP / INP / CLS + API latency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236208" y="3099816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3209544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Controlled desktop + mobile runs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66928" y="3758184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867912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Usability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2578608" y="3758184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3867912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Task success, time, perceived ease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236208" y="3758184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9360" y="3867912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Representative users + SUS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66928" y="4416552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526280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Accessibility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578608" y="441655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51760" y="4526280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Keyboard, focus, semantics, contrast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6236208" y="4416552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9360" y="4526280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Automated + manual WCAG review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66928" y="5074920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5184648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Security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2578608" y="5074920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651760" y="5184648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Auth, access control, validation, data exposure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6236208" y="5074920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09360" y="5184648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Endpoint and configuration tests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66928" y="5852160"/>
            <a:ext cx="10954512" cy="402336"/>
          </a:xfrm>
          <a:prstGeom prst="roundRect">
            <a:avLst>
              <a:gd name="adj" fmla="val 31818"/>
            </a:avLst>
          </a:prstGeom>
          <a:solidFill>
            <a:srgbClr val="EEF8F6"/>
          </a:solidFill>
          <a:ln w="12700">
            <a:solidFill>
              <a:srgbClr val="B8D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7240" y="59618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594E"/>
                </a:solidFill>
              </a:rPr>
              <a:t>Analysis message: performance should be measured, not assumed. When a bottleneck is found, optimize data transfer, rendering and repeated calculations before adding more visual complexity.</a:t>
            </a:r>
            <a:endParaRPr lang="en-US" sz="93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Findings, Novelty &amp; Research Upgrade</a:t>
            </a:r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The Review-2 discussion should show that the team understands what is complete and what still needs engineering evidence.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07492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144768" y="1417320"/>
            <a:ext cx="507492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CURRENT STRENGTHS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434340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Unified BI interface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Interactive analytical flow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Clear KPI-to-analysis concept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Live deployment for demonstration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5230368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23544" y="52623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IMPLEMENTED / DEMONSTRABLE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19088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NEXT ENGINEERING STEPS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212848"/>
            <a:ext cx="434340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Instrument performance metrics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Validate every KPI against reference calculations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Add stronger drill-down / anomaly explanation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Complete accessibility and security testing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Collect user-study evidence if publication is required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19088" y="5230368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73952" y="52623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NEXT ITERATION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59893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84"/>
                </a:solidFill>
              </a:rPr>
              <a:t>Why this matters for Review-2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595274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2437"/>
                </a:solidFill>
              </a:rPr>
              <a:t>A strong review explicitly connects implementation → observed output → analysis → improvement plan.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Conclusion – Research-Grade Takeaway</a:t>
            </a:r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Close the review by showing the evaluator the complete story of the implemented artifact.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353312"/>
            <a:ext cx="6537960" cy="448056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we have demonstrated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548640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deployable BI dashboard that converts organizational data into visual analytics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structured execution flow from KPI monitoring to comparison and detailed analysis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clear framework for validating correctness, performance, usability and accessibility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measurable roadmap for improving the artifact beyond the current review stage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5010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C7D6"/>
                </a:solidFill>
              </a:rPr>
              <a:t>Live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49743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Open the deployed dashboard during Q&amp;A / evaluator interaction.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353312"/>
            <a:ext cx="4069080" cy="448056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818120" y="1737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3-part Review-2 story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36408" y="233172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36408" y="24963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77072" y="23500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IMPLEMENT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77072" y="26426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84"/>
                </a:solidFill>
              </a:rPr>
              <a:t>System built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36408" y="3246120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836408" y="34107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77072" y="32644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EXECUTE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77072" y="35570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84"/>
                </a:solidFill>
              </a:rPr>
              <a:t>System 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36408" y="4160520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836408" y="4325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77072" y="41788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ANALYZE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77072" y="44714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84"/>
                </a:solidFill>
              </a:rPr>
              <a:t>Results understood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09560" y="5074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A3B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65008" y="554126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084"/>
                </a:solidFill>
              </a:rPr>
              <a:t>Questions &amp; demonstration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Research Gap &amp; Mandatory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project is upgraded from a dashboard artifact to a testable hybrid decision-intelligence research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WHAT EXISTS IN THE CURRENT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Executive BI</a:t>
            </a:r>
            <a:br/>
            <a:r>
              <a:t>Sales &amp; Revenue</a:t>
            </a:r>
            <a:br/>
            <a:r>
              <a:t>Finance &amp; Cash Flow</a:t>
            </a:r>
            <a:br/>
            <a:r>
              <a:t>Marketing / HR / Operations</a:t>
            </a:r>
            <a:br/>
            <a:r>
              <a:t>RFM &amp; Analytics</a:t>
            </a:r>
            <a:br/>
            <a:r>
              <a:t>Data Quality / ETL</a:t>
            </a:r>
            <a:br/>
            <a:r>
              <a:t>Automated Business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WHY THAT IS NOT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A dashboard alone is not novelty.</a:t>
            </a:r>
            <a:br/>
            <a:br/>
            <a:r>
              <a:t>Multiple datasets alone are not novelty.</a:t>
            </a:r>
            <a:br/>
            <a:br/>
            <a:r>
              <a:t>Individual ML models alone are not novelty.</a:t>
            </a:r>
            <a:br/>
            <a:br/>
            <a:r>
              <a:t>The research needs a new computational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PROPOSED RESEARCH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Hybrid Evidence-Weighted Decision Fusion (HEWDF)</a:t>
            </a:r>
            <a:br/>
            <a:br/>
            <a:r>
              <a:t>Fuse predictive evidence + anomaly evidence + KPI deviation + cross-functional propagation + data/model reliability into an auditable decision-priority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new HEWDF layer is explicitly located after analytics generation and before recommendation/decision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19</a:t>
            </a:r>
          </a:p>
        </p:txBody>
      </p:sp>
      <p:pic>
        <p:nvPicPr>
          <p:cNvPr id="6" name="Picture 5" descr="hybri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10881360" cy="60370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Detailed Methodology &amp; Research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methodology separates observation, prediction, diagnosis, prioritization, and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1.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CSV / DB / API records are validated and profiled.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2. Data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Completeness, validity, duplicates, consistency and outlier indicators produce reliability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7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3. Analytical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The system selects supported descriptive, predictive and anomaly analyses from data characteristics.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4. Cross-functional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Linked KPIs across sales, finance, marketing, HR and operations form propagation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5. HEWDF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Evidence is normalized, reliability-adjusted and fused into a decision-priority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7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6. Traceable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The system exposes the evidence chain and decision simulation rather than a black-box recommendation.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Hybrid Evidence-Weighted Decision Fusion (HEWDF)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Proposed mathematical formulation for the novel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Hᵢ = Σₖ wᵢₖ Eᵢₖ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100584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142034"/>
                </a:solidFill>
              </a:defRPr>
            </a:pPr>
            <a:r>
              <a:t>Eᵢ = [Pᵢ, Aᵢ, Dᵢ, Cᵢ, Qᵢ]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Pᵢ — Predictive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Forecast residual / expected-value deviation.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Aᵢ —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Statistical or ML anomaly severity.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1324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Dᵢ — KPI deviation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Distance from target/baseline.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7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Cᵢ — 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7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Cross-functional dependency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3154680"/>
            <a:ext cx="160020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76688" y="3264408"/>
            <a:ext cx="13807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Qᵢ — 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3593592"/>
            <a:ext cx="1380744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Data/model reliability adjustment.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F6E82"/>
                </a:solidFill>
              </a:defRPr>
            </a:pPr>
            <a:r>
              <a:t>Weights are adaptive rather than fixed: evidence reliability and information content determine how strongly each evidence stream contributes.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Observed Dashboard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Values transcribed from the current project output captures supplied with Review-2.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3444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Observed metric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Dashboard evidence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₹23,31,50,101.47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12,500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Average order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₹18,652.01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Quota achievement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₹10,07,11,852.06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profit margin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Finance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Operating expense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₹7,82,28,509.72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cash flow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₹6,11,46,190.12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Revenue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+100.4%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Marketing ROI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9726.7%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Business Insights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Interpretation: these are artifact-observable business results; they are not substituted for controlled ML accuracy or web-performance benchmarks.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Graphical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Graphs are computed from the observed dashboard outputs, not fabricated benchmark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23</a:t>
            </a:r>
          </a:p>
        </p:txBody>
      </p:sp>
      <p:pic>
        <p:nvPicPr>
          <p:cNvPr id="6" name="Picture 5" descr="financial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440680" cy="2952258"/>
          </a:xfrm>
          <a:prstGeom prst="rect">
            <a:avLst/>
          </a:prstGeom>
        </p:spPr>
      </p:pic>
      <p:pic>
        <p:nvPicPr>
          <p:cNvPr id="7" name="Picture 6" descr="percentage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440680" cy="29522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77840"/>
            <a:ext cx="106070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Financial scale: revenue is the largest observed aggregate; net profit and cash flow provide profitability/liquidity context. Percentage view: growth and quota attainment are separated from margin to preserve interpretability.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Business Insight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automated-insights screen links findings to evidence, impact and recommended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24</a:t>
            </a:r>
          </a:p>
        </p:txBody>
      </p:sp>
      <p:pic>
        <p:nvPicPr>
          <p:cNvPr id="6" name="Picture 5" descr="ca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212080" cy="28282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623560" cy="25930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23560"/>
            <a:ext cx="1060704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Interpretation: Events &amp; Webinars is shown with ₹26.26 CAC versus ₹302.00 for Partner Referrals. The screenshot also demonstrates the existing four-part insight structure: context → evidence → impact →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Frontend Output Screenshots — Research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dashboard screenshots are part of the results section because the deployed frontend is the research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486400" cy="21488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440680" cy="21488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66160"/>
            <a:ext cx="5486400" cy="214884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566160"/>
            <a:ext cx="544068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Novelty Positioning — What Is Actually New?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claim is framed as a proposed system-level contribution, not as an unsupported “first ever” statement.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7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Research direction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Established capability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Proposed project contribution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Adaptive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Adaptive algorithms /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Reliability-adjusted evidence routing inside organizational KPI decision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Cross-department BI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Cross-functional visualization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Cross-KPI propagation becomes an explicit decision-priority evidence stream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Hybrid ML–MCDM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Predictive + multi-criteria decision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BI-specific fusion of prediction + anomaly + KPI + propagation + reliability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Anomaly ensembles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Multiple anomaly models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Anomaly output becomes one component of a broader auditable decision score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Decision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Dashboards /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Evidence lineage from source metric to fused priority and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715000"/>
            <a:ext cx="107899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1">
                <a:solidFill>
                  <a:srgbClr val="B45028"/>
                </a:solidFill>
              </a:defRPr>
            </a:pPr>
            <a:r>
              <a:t>Important: a systematic literature review is still required before claiming that no equivalent combination exists in any prior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Experimental Evaluation &amp;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novelty must be demonstrated experimentally rather than asserted.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Primary performance metrics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Dashboard/rule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Top-k priority precision;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Single predictive/anomaly model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MAE/RMSE/MAPE or Precision/Recall/F1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Fixed-weight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Ranking quality; false-priority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Proposed HEWDF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Ranking quality; evidence completeness; latency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A1–A5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Remove one HEWDF evidence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Change in ranking quality and false-priority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66360"/>
            <a:ext cx="1033272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00" b="1">
                <a:solidFill>
                  <a:srgbClr val="142034"/>
                </a:solidFill>
              </a:defRPr>
            </a:pPr>
            <a:r>
              <a:t>Publication rule: if no labeled ground truth or controlled decision study exists, do not invent accuracy values. Use a reproducible synthetic benchmark or expert-validated task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Research Paper Mapping — Mandatory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Every included table, graph and screenshot is explained in the paper's Results 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Table 5 — observed KPI results</a:t>
            </a:r>
            <a:br/>
            <a:r>
              <a:t>Table 6 — internal consistency checks</a:t>
            </a:r>
            <a:br/>
            <a:r>
              <a:t>Table 7 — evidence boundary</a:t>
            </a:r>
            <a:br/>
            <a:r>
              <a:t>Table 8 — novelty positioning</a:t>
            </a:r>
            <a:br/>
            <a:r>
              <a:t>Table 9 — hybrid-model evaluation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Fig. 5 — financial performance</a:t>
            </a:r>
            <a:br/>
            <a:r>
              <a:t>Fig. 6 — percentage KPIs</a:t>
            </a:r>
            <a:br/>
            <a:r>
              <a:t>Fig. 7 — CAC comparison</a:t>
            </a:r>
            <a:br/>
            <a:r>
              <a:t>Each graph has a results interpretation paragraph.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FRONTEND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Fig. 8 — Executive BI</a:t>
            </a:r>
            <a:br/>
            <a:r>
              <a:t>Fig. 9 — Sales</a:t>
            </a:r>
            <a:br/>
            <a:r>
              <a:t>Fig. 10 — Finance</a:t>
            </a:r>
            <a:br/>
            <a:r>
              <a:t>Fig. 11 — Business Insights</a:t>
            </a:r>
            <a:br/>
            <a:r>
              <a:t>Each screenshot is explained as research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Final Research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project now has a clear chain from implementation to measurable research contribution.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REAL DATA  →  ETL  →  BI  →  ML / ANOMALY  →  HEWDF  →  TRACEABLE DECISION PRIORITY  →  BUSINESS INSIGHT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Working enterprise BI artifact</a:t>
            </a:r>
            <a:br/>
            <a:r>
              <a:t>Multiple functional dashboards</a:t>
            </a:r>
            <a:br/>
            <a:r>
              <a:t>ETL / data quality /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NOVELTY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Hybrid Evidence-Weighted Decision Fusion</a:t>
            </a:r>
            <a:br/>
            <a:r>
              <a:t>Adaptive reliability weighting</a:t>
            </a:r>
            <a:br/>
            <a:r>
              <a:t>Cross-functional propagation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7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Observed KPI results</a:t>
            </a:r>
            <a:br/>
            <a:r>
              <a:t>Graphs</a:t>
            </a:r>
            <a:br/>
            <a:r>
              <a:t>Frontend screenshots</a:t>
            </a:r>
            <a:br/>
            <a:r>
              <a:t>Controlled evaluation + ablation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1">
                <a:solidFill>
                  <a:srgbClr val="142034"/>
                </a:solidFill>
              </a:defRPr>
            </a:pPr>
            <a:r>
              <a:t>Next mandatory step: implement HEWDF in the live project, run the baseline/ablation experiments, and replace the current “not yet measured” cells with actual model-performance and web-performance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• Research-grade revision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2972</Words>
  <Application>Microsoft Office PowerPoint</Application>
  <PresentationFormat>Widescreen</PresentationFormat>
  <Paragraphs>523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KLH Hyderabad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BI Dashboard - Project Review 2</dc:title>
  <dc:subject>Data Analytics and Visualization Project - Review 2</dc:subject>
  <dc:creator>Yennam Sesank Reddy</dc:creator>
  <cp:lastModifiedBy>sesank yennam</cp:lastModifiedBy>
  <cp:revision>2</cp:revision>
  <dcterms:created xsi:type="dcterms:W3CDTF">2026-09-16T09:42:49Z</dcterms:created>
  <dcterms:modified xsi:type="dcterms:W3CDTF">2026-09-17T07:12:29Z</dcterms:modified>
</cp:coreProperties>
</file>