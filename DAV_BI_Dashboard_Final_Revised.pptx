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67" r:id="rId6"/>
    <p:sldId id="260" r:id="rId7"/>
    <p:sldId id="259" r:id="rId8"/>
    <p:sldId id="261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rop_9398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0"/>
            <a:ext cx="45537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7584"/>
            <a:ext cx="7955279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6903720" y="0"/>
            <a:ext cx="1097280" cy="6858000"/>
          </a:xfrm>
          <a:prstGeom prst="parallelogram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5176" y="1612017"/>
            <a:ext cx="6401095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Aptos"/>
              </a:rPr>
              <a:t>Business Intelligence </a:t>
            </a:r>
            <a:r>
              <a:rPr lang="en-US" sz="2000" b="1" dirty="0">
                <a:solidFill>
                  <a:schemeClr val="bg1"/>
                </a:solidFill>
              </a:rPr>
              <a:t>Dashboards </a:t>
            </a:r>
            <a:r>
              <a:rPr sz="1900" b="0" dirty="0">
                <a:solidFill>
                  <a:srgbClr val="E2E8F0"/>
                </a:solidFill>
                <a:latin typeface="Aptos"/>
              </a:rPr>
              <a:t>for Organizational Performance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03320"/>
            <a:ext cx="5989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CBD5E1"/>
                </a:solidFill>
                <a:latin typeface="Aptos"/>
              </a:rPr>
              <a:t>From fragmented data to decisions that people can actually act 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892040"/>
            <a:ext cx="123444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901183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LITERATURE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8" y="4892040"/>
            <a:ext cx="141732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7127" y="4901183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RESEARCH 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4892040"/>
            <a:ext cx="123444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7" y="4901183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5404545"/>
            <a:ext cx="3200400" cy="1169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1" dirty="0">
                <a:solidFill>
                  <a:schemeClr val="bg1"/>
                </a:solidFill>
                <a:latin typeface="Aptos"/>
              </a:rPr>
              <a:t>Batch – 05</a:t>
            </a:r>
          </a:p>
          <a:p>
            <a:pPr algn="l"/>
            <a:r>
              <a:rPr lang="en-US" sz="1400" b="1" dirty="0" err="1">
                <a:solidFill>
                  <a:schemeClr val="bg1"/>
                </a:solidFill>
                <a:latin typeface="Aptos"/>
              </a:rPr>
              <a:t>Sesank</a:t>
            </a:r>
            <a:r>
              <a:rPr lang="en-US" sz="1400" b="1" dirty="0">
                <a:solidFill>
                  <a:schemeClr val="bg1"/>
                </a:solidFill>
                <a:latin typeface="Aptos"/>
              </a:rPr>
              <a:t> Reddy – 2420030161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latin typeface="Aptos"/>
              </a:rPr>
              <a:t>Sai Sri Harsha – 2420030190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latin typeface="Aptos"/>
              </a:rPr>
              <a:t>Sathwik               - 2420030048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latin typeface="Aptos"/>
              </a:rPr>
              <a:t>Anajan Reddy  -  2420030750</a:t>
            </a:r>
            <a:endParaRPr sz="1400" b="1" dirty="0">
              <a:solidFill>
                <a:schemeClr val="bg1"/>
              </a:solidFill>
              <a:latin typeface="Apto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F7E466-E2CC-1F3E-DA5A-6406B85B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630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2959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_crop_257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3703320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5440680"/>
            <a:ext cx="370332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559552"/>
            <a:ext cx="3337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One organization • many systems • no single performance 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7E466-E2CC-1F3E-DA5A-6406B85B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32" y="17218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663440" y="1691640"/>
            <a:ext cx="6400800" cy="3383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lnSpc>
                <a:spcPct val="100000"/>
              </a:lnSpc>
              <a:spcAft>
                <a:spcPts val="1600"/>
              </a:spcAft>
            </a:pPr>
            <a:r>
              <a:rPr sz="1700" b="1" dirty="0">
                <a:solidFill>
                  <a:srgbClr val="1F2959"/>
                </a:solidFill>
                <a:latin typeface="Aptos"/>
              </a:rPr>
              <a:t>Organizations struggle</a:t>
            </a:r>
            <a:r>
              <a:rPr sz="1700" dirty="0">
                <a:solidFill>
                  <a:srgbClr val="475569"/>
                </a:solidFill>
                <a:latin typeface="Aptos"/>
              </a:rPr>
              <a:t> with fragmented data across Sales, Finance, HR, Marketing and Operations.</a:t>
            </a:r>
          </a:p>
          <a:p>
            <a:pPr>
              <a:lnSpc>
                <a:spcPct val="100000"/>
              </a:lnSpc>
              <a:spcAft>
                <a:spcPts val="1600"/>
              </a:spcAft>
            </a:pPr>
            <a:r>
              <a:rPr sz="1700" b="1" dirty="0">
                <a:solidFill>
                  <a:srgbClr val="1F2959"/>
                </a:solidFill>
                <a:latin typeface="Aptos"/>
              </a:rPr>
              <a:t>Manual reporting and inconsistent KPIs</a:t>
            </a:r>
            <a:r>
              <a:rPr sz="1700" dirty="0">
                <a:solidFill>
                  <a:srgbClr val="475569"/>
                </a:solidFill>
                <a:latin typeface="Aptos"/>
              </a:rPr>
              <a:t> make performance analysis slow and unreliable.</a:t>
            </a:r>
          </a:p>
          <a:p>
            <a:pPr>
              <a:lnSpc>
                <a:spcPct val="100000"/>
              </a:lnSpc>
              <a:spcAft>
                <a:spcPts val="1600"/>
              </a:spcAft>
            </a:pPr>
            <a:r>
              <a:rPr sz="1700" b="1" dirty="0">
                <a:solidFill>
                  <a:srgbClr val="1F2959"/>
                </a:solidFill>
                <a:latin typeface="Aptos"/>
              </a:rPr>
              <a:t>A unified BI solution</a:t>
            </a:r>
            <a:r>
              <a:rPr sz="1700" dirty="0">
                <a:solidFill>
                  <a:srgbClr val="475569"/>
                </a:solidFill>
                <a:latin typeface="Aptos"/>
              </a:rPr>
              <a:t> is needed to transform scattered data into clear, actionable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2959"/>
                </a:solidFill>
                <a:latin typeface="Aptos"/>
              </a:rPr>
              <a:t>2. Objectives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1170432"/>
            <a:ext cx="104058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0778" y="1600200"/>
            <a:ext cx="7731274" cy="482183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just">
              <a:lnSpc>
                <a:spcPct val="100000"/>
              </a:lnSpc>
              <a:spcAft>
                <a:spcPts val="500"/>
              </a:spcAft>
              <a:defRPr sz="1800">
                <a:latin typeface="Aptos"/>
              </a:defRPr>
            </a:pPr>
            <a:r>
              <a:rPr b="1" dirty="0">
                <a:solidFill>
                  <a:srgbClr val="0E7490"/>
                </a:solidFill>
                <a:latin typeface="Aptos"/>
              </a:rPr>
              <a:t>O1 </a:t>
            </a:r>
            <a:r>
              <a:rPr lang="en-US" b="1" dirty="0">
                <a:latin typeface="Aptos"/>
              </a:rPr>
              <a:t>To integrate</a:t>
            </a:r>
            <a:r>
              <a:rPr b="1" dirty="0">
                <a:latin typeface="Aptos"/>
              </a:rPr>
              <a:t> </a:t>
            </a:r>
            <a:r>
              <a:rPr dirty="0">
                <a:solidFill>
                  <a:srgbClr val="1F2959"/>
                </a:solidFill>
                <a:latin typeface="Aptos"/>
              </a:rPr>
              <a:t>organizational data from Sales, Finance, HR, Marketing and Operations into a unified analytical environment.</a:t>
            </a:r>
            <a:endParaRPr lang="en-US" dirty="0">
              <a:solidFill>
                <a:srgbClr val="1F2959"/>
              </a:solidFill>
              <a:latin typeface="Aptos"/>
            </a:endParaRPr>
          </a:p>
          <a:p>
            <a:pPr algn="just">
              <a:lnSpc>
                <a:spcPct val="100000"/>
              </a:lnSpc>
              <a:spcAft>
                <a:spcPts val="500"/>
              </a:spcAft>
              <a:defRPr sz="1800">
                <a:latin typeface="Aptos"/>
              </a:defRPr>
            </a:pPr>
            <a:endParaRPr lang="en-US" sz="2800" dirty="0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0E7490"/>
                </a:solidFill>
                <a:latin typeface="Aptos"/>
              </a:rPr>
              <a:t>O2 </a:t>
            </a:r>
            <a:r>
              <a:rPr lang="en-US" b="1" dirty="0">
                <a:latin typeface="Aptos"/>
              </a:rPr>
              <a:t>To Develop </a:t>
            </a:r>
            <a:r>
              <a:rPr dirty="0">
                <a:solidFill>
                  <a:srgbClr val="1F2959"/>
                </a:solidFill>
                <a:latin typeface="Aptos"/>
              </a:rPr>
              <a:t>a reliable ETL pipeline for profiling, cleaning, transforming and validating organizational data.</a:t>
            </a:r>
            <a:endParaRPr lang="en-US" dirty="0">
              <a:solidFill>
                <a:srgbClr val="1F2959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endParaRPr dirty="0">
              <a:solidFill>
                <a:srgbClr val="1F2959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0E7490"/>
                </a:solidFill>
                <a:latin typeface="Aptos"/>
              </a:rPr>
              <a:t>O3 </a:t>
            </a:r>
            <a:r>
              <a:rPr lang="en-US" b="1" dirty="0">
                <a:latin typeface="Aptos"/>
              </a:rPr>
              <a:t>To</a:t>
            </a:r>
            <a:r>
              <a:rPr lang="en-US" b="1" dirty="0">
                <a:solidFill>
                  <a:srgbClr val="0E7490"/>
                </a:solidFill>
                <a:latin typeface="Aptos"/>
              </a:rPr>
              <a:t> </a:t>
            </a:r>
            <a:r>
              <a:rPr b="1" dirty="0">
                <a:solidFill>
                  <a:srgbClr val="1F2959"/>
                </a:solidFill>
                <a:latin typeface="Aptos"/>
              </a:rPr>
              <a:t>Standardize</a:t>
            </a:r>
            <a:r>
              <a:rPr dirty="0">
                <a:solidFill>
                  <a:srgbClr val="1F2959"/>
                </a:solidFill>
                <a:latin typeface="Aptos"/>
              </a:rPr>
              <a:t> key performance indicators with consistent, reusable and auditable business definitions.</a:t>
            </a:r>
            <a:endParaRPr lang="en-US" dirty="0">
              <a:solidFill>
                <a:srgbClr val="1F2959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endParaRPr dirty="0">
              <a:solidFill>
                <a:srgbClr val="1F2959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0E7490"/>
                </a:solidFill>
                <a:latin typeface="Aptos"/>
              </a:rPr>
              <a:t>O4  </a:t>
            </a:r>
            <a:r>
              <a:rPr lang="en-US" b="1" dirty="0">
                <a:latin typeface="Aptos"/>
              </a:rPr>
              <a:t>To </a:t>
            </a:r>
            <a:r>
              <a:rPr b="1" dirty="0">
                <a:latin typeface="Aptos"/>
              </a:rPr>
              <a:t>Design</a:t>
            </a:r>
            <a:r>
              <a:rPr dirty="0">
                <a:solidFill>
                  <a:srgbClr val="1F2959"/>
                </a:solidFill>
                <a:latin typeface="Aptos"/>
              </a:rPr>
              <a:t> interactive, human-centered dashboards that reveal trends, performance drivers and actionable insights through filters and controlled drill-down.</a:t>
            </a:r>
            <a:endParaRPr lang="en-US" dirty="0">
              <a:solidFill>
                <a:srgbClr val="1F2959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endParaRPr dirty="0">
              <a:solidFill>
                <a:srgbClr val="1F2959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0E7490"/>
                </a:solidFill>
                <a:latin typeface="Aptos"/>
              </a:rPr>
              <a:t>O5  </a:t>
            </a:r>
            <a:r>
              <a:rPr lang="en-US" b="1" dirty="0">
                <a:latin typeface="Aptos"/>
              </a:rPr>
              <a:t>To </a:t>
            </a:r>
            <a:r>
              <a:rPr b="1" dirty="0">
                <a:latin typeface="Aptos"/>
              </a:rPr>
              <a:t>Evaluate </a:t>
            </a:r>
            <a:r>
              <a:rPr dirty="0">
                <a:solidFill>
                  <a:srgbClr val="1F2959"/>
                </a:solidFill>
                <a:latin typeface="Aptos"/>
              </a:rPr>
              <a:t>the solution for data accuracy, KPI consistency, usability and decision usefulness.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00890B-746D-B741-EE88-09E29D87A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75" y="17218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F2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2439" y="328624"/>
            <a:ext cx="35440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dirty="0">
                <a:solidFill>
                  <a:srgbClr val="FFFFFF"/>
                </a:solidFill>
                <a:latin typeface="Aptos"/>
              </a:rPr>
              <a:t> Literature Survey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053328"/>
            <a:ext cx="1138428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144768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  <a:latin typeface="Aptos"/>
              </a:rPr>
              <a:t>Literature focus: BI • Data Analytics • Dashboard Design • Visual Analytics • Decision Support • LIMITATIONS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CAC02E-87CF-887E-362E-ECCC420A0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75" y="2971"/>
            <a:ext cx="1566506" cy="83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414626"/>
              </p:ext>
            </p:extLst>
          </p:nvPr>
        </p:nvGraphicFramePr>
        <p:xfrm>
          <a:off x="704089" y="873252"/>
          <a:ext cx="11212607" cy="508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2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4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723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</a:txBody>
                  <a:tcPr marL="41148" marR="41148" marT="18288" marB="18288" anchor="ctr">
                    <a:solidFill>
                      <a:srgbClr val="1F2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41148" marR="41148" marT="18288" marB="18288" anchor="ctr">
                    <a:solidFill>
                      <a:srgbClr val="1F2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Publication</a:t>
                      </a:r>
                    </a:p>
                  </a:txBody>
                  <a:tcPr marL="41148" marR="41148" marT="18288" marB="18288" anchor="ctr">
                    <a:solidFill>
                      <a:srgbClr val="1F2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Aptos"/>
                        </a:rPr>
                        <a:t>Key Contribution</a:t>
                      </a:r>
                    </a:p>
                  </a:txBody>
                  <a:tcPr marL="41148" marR="41148" marT="18288" marB="18288" anchor="ctr">
                    <a:solidFill>
                      <a:srgbClr val="1F2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Limitation / Gap</a:t>
                      </a:r>
                    </a:p>
                  </a:txBody>
                  <a:tcPr marL="41148" marR="41148" marT="18288" marB="18288" anchor="ctr">
                    <a:solidFill>
                      <a:srgbClr val="1F2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23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Drillboards: Adaptive Visualization Dashboards for Dynamic Personalization of Visualization Experiences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2025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IEEE – Transactions on Visualization and Computer Graphics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Introduces hierarchical dashboards that support movement from summarized views to detailed views based on user expertise and interest.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Focuses on adaptive drill-down and personalization; does not address upstream data integration or KPI governance.</a:t>
                      </a:r>
                    </a:p>
                  </a:txBody>
                  <a:tcPr marL="41148" marR="41148" marT="18288" marB="1828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723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The Effects of Customisation on the Usability of Visual Analytics Dashboards: The Good, the Bad, and the Ugly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2025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1F2959"/>
                          </a:solidFill>
                          <a:latin typeface="Aptos"/>
                        </a:rPr>
                        <a:t>ACM – IUI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Examines dashboard customization and shows why purposeful personalization should be balanced against cognitive load and usability.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Focuses on customization and cognitive load; does not solve cross-department data integration or KPI consistency.</a:t>
                      </a:r>
                    </a:p>
                  </a:txBody>
                  <a:tcPr marL="41148" marR="41148" marT="18288" marB="1828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23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A Workflow to Systematically Design Uncertainty-Aware Visual Analytics Applications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2025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Springer – The Visual Computer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Provides a structured workflow for incorporating uncertainty into visual analytics and decision-support applications.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Focuses on uncertainty-aware visualization; does not provide an end-to-end organizational ETL and KPI lineage.</a:t>
                      </a:r>
                    </a:p>
                  </a:txBody>
                  <a:tcPr marL="41148" marR="41148" marT="18288" marB="1828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723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Linking Business Analytics Affordances to Corporate Strategic Planning and Decision Making Outcomes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2024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Springer – Information Systems and e-Business Management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Connects business analytics capabilities and affordances with strategic planning and decision-making outcomes.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Links analytics to strategy; gives less emphasis to implementation-level ETL, traceability and dashboard construction.</a:t>
                      </a:r>
                    </a:p>
                  </a:txBody>
                  <a:tcPr marL="41148" marR="41148" marT="18288" marB="1828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723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Azimuth: Designing Accessible Dashboards for Screen Reader Users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2023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ACM – ASSETS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Addresses dashboard accessibility for screen-reader users and supports more inclusive access to analytical information.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1F2959"/>
                          </a:solidFill>
                          <a:latin typeface="Aptos"/>
                        </a:rPr>
                        <a:t>Addresses screen-reader accessibility; broader cross-functional data integration and KPI standardization remain outside its focus.</a:t>
                      </a:r>
                    </a:p>
                  </a:txBody>
                  <a:tcPr marL="41148" marR="41148" marT="18288" marB="1828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F2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25583" y="236066"/>
            <a:ext cx="236346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FFFFFF"/>
                </a:solidFill>
                <a:latin typeface="Aptos"/>
              </a:rPr>
              <a:t>Literature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053328"/>
            <a:ext cx="1138428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144768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475569"/>
                </a:solidFill>
                <a:latin typeface="Aptos"/>
              </a:rPr>
              <a:t>Literature focus: Dashboard Design • Usability • Visual Analytics • Collaboration • Human-Centered BI • LIMITATIONS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277B35-4B26-2D39-0AD5-6DF3FF51D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75" y="-5821"/>
            <a:ext cx="1566506" cy="83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337982"/>
              </p:ext>
            </p:extLst>
          </p:nvPr>
        </p:nvGraphicFramePr>
        <p:xfrm>
          <a:off x="646938" y="893119"/>
          <a:ext cx="10895076" cy="5148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5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1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7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801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</a:txBody>
                  <a:tcPr marL="41148" marR="41148" marT="18288" marB="18288" anchor="ctr">
                    <a:solidFill>
                      <a:srgbClr val="1F2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41148" marR="41148" marT="18288" marB="18288" anchor="ctr">
                    <a:solidFill>
                      <a:srgbClr val="1F2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Publication</a:t>
                      </a:r>
                    </a:p>
                  </a:txBody>
                  <a:tcPr marL="41148" marR="41148" marT="18288" marB="18288" anchor="ctr">
                    <a:solidFill>
                      <a:srgbClr val="1F2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Key Contribution</a:t>
                      </a:r>
                    </a:p>
                  </a:txBody>
                  <a:tcPr marL="41148" marR="41148" marT="18288" marB="18288" anchor="ctr">
                    <a:solidFill>
                      <a:srgbClr val="1F2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Limitation / Gap</a:t>
                      </a:r>
                    </a:p>
                  </a:txBody>
                  <a:tcPr marL="41148" marR="41148" marT="18288" marB="18288" anchor="ctr">
                    <a:solidFill>
                      <a:srgbClr val="1F2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1F2959"/>
                          </a:solidFill>
                          <a:latin typeface="Aptos"/>
                        </a:rPr>
                        <a:t>From Dashboard Zoo to Census: A Case Study with Tableau Public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2024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IEEE – Transactions on Visualization and Computer Graphics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Analyzes 25,620 Tableau Public dashboards using graph representations to identify common dashboard structures and design patterns.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Describes dashboard structures at scale; it is primarily descriptive and does not build a data-to-decision pipeline.</a:t>
                      </a:r>
                    </a:p>
                  </a:txBody>
                  <a:tcPr marL="41148" marR="41148" marT="18288" marB="1828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D-Tour: Semi-Automatic Generation of Interactive Guided Tours for Visualization Dashboard Onboarding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2025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IEEE – Transactions on Visualization and Computer Graphics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Introduces guided tours that explain dashboard charts, data and interactions, helping users understand unfamiliar dashboards.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Improves dashboard onboarding; it does not address data quality, ETL validation or KPI semantic consistency.</a:t>
                      </a:r>
                    </a:p>
                  </a:txBody>
                  <a:tcPr marL="41148" marR="41148" marT="18288" marB="1828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Behavioural Indicators of Usability in Visual Analytics Dashboards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2025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ACM – Transactions on Interactive Intelligent Systems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Studies interaction behavior and graph literacy as indicators of dashboard usability, supporting task-based evaluation.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Uses interaction behavior and graph literacy for usability; it does not jointly evaluate data accuracy and KPI consistency.</a:t>
                      </a:r>
                    </a:p>
                  </a:txBody>
                  <a:tcPr marL="41148" marR="41148" marT="18288" marB="1828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Bringing Data into the Conversation: Adapting Content from Business Intelligence Dashboards for Threaded Collaboration Platforms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2024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IEEE VIS – Short Papers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Presents strategies for converting dashboard insights into shareable snapshots for collaboration and organizational communication.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Enables sharing of dashboard insights; it does not establish upstream source integration or traceable KPI production.</a:t>
                      </a:r>
                    </a:p>
                  </a:txBody>
                  <a:tcPr marL="41148" marR="41148" marT="18288" marB="1828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Dashboard Design Mining and Recommendation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2022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IEEE – Transactions on Visualization and Computer Graphics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F2959"/>
                          </a:solidFill>
                          <a:latin typeface="Aptos"/>
                        </a:rPr>
                        <a:t>Mines 854 dashboards to identify layout and interaction rules and develops recommendations for automated dashboard organization.</a:t>
                      </a:r>
                    </a:p>
                  </a:txBody>
                  <a:tcPr marL="41148" marR="4114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1F2959"/>
                          </a:solidFill>
                          <a:latin typeface="Aptos"/>
                        </a:rPr>
                        <a:t>Recommends layout and interaction rules; it concentrates on the visual layer rather than ETL, KPI governance and decision evaluation.</a:t>
                      </a:r>
                    </a:p>
                  </a:txBody>
                  <a:tcPr marL="41148" marR="41148" marT="18288" marB="1828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>
                <a:solidFill>
                  <a:srgbClr val="1F2959"/>
                </a:solidFill>
                <a:latin typeface="Aptos"/>
              </a:rPr>
              <a:t>Research Gap → Objective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41732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45336"/>
            <a:ext cx="4754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2959"/>
                </a:solidFill>
                <a:latin typeface="Aptos"/>
              </a:rPr>
              <a:t>G1  Research is fragmented  </a:t>
            </a:r>
            <a:r>
              <a:rPr sz="1100" b="1">
                <a:solidFill>
                  <a:srgbClr val="0E7490"/>
                </a:solidFill>
                <a:latin typeface="Aptos"/>
              </a:rPr>
              <a:t>→  O1 + O3 + O4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1F2959"/>
                </a:solidFill>
                <a:latin typeface="Aptos"/>
              </a:rPr>
              <a:t>Existing studies address BI, data understanding, visual analytics and UX separately; our solution integrates them in one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545336"/>
            <a:ext cx="4754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2959"/>
                </a:solidFill>
                <a:latin typeface="Aptos"/>
              </a:rPr>
              <a:t>G2  Departments are fragmented  </a:t>
            </a:r>
            <a:r>
              <a:rPr sz="1100" b="1">
                <a:solidFill>
                  <a:srgbClr val="0E7490"/>
                </a:solidFill>
                <a:latin typeface="Aptos"/>
              </a:rPr>
              <a:t>→  O1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1F2959"/>
                </a:solidFill>
                <a:latin typeface="Aptos"/>
              </a:rPr>
              <a:t>Different dimensions and reporting cycles prevent a shared performance view across Sales, Finance, HR, Marketing and Operations.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24912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724912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852928"/>
            <a:ext cx="4754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2959"/>
                </a:solidFill>
                <a:latin typeface="Aptos"/>
              </a:rPr>
              <a:t>G3  Dashboards hide the pipeline  </a:t>
            </a:r>
            <a:r>
              <a:rPr sz="1100" b="1">
                <a:solidFill>
                  <a:srgbClr val="0E7490"/>
                </a:solidFill>
                <a:latin typeface="Aptos"/>
              </a:rPr>
              <a:t>→  O2 + O3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63824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1F2959"/>
                </a:solidFill>
                <a:latin typeface="Aptos"/>
              </a:rPr>
              <a:t>Many prototypes emphasize the final visual layer without exposing how data is cleaned, transformed and converted into governed KPIs.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724912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724912"/>
            <a:ext cx="73152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2852928"/>
            <a:ext cx="4754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2959"/>
                </a:solidFill>
                <a:latin typeface="Aptos"/>
              </a:rPr>
              <a:t>G4  Personalization can add complexity  </a:t>
            </a:r>
            <a:r>
              <a:rPr sz="1100" b="1">
                <a:solidFill>
                  <a:srgbClr val="0E7490"/>
                </a:solidFill>
                <a:latin typeface="Aptos"/>
              </a:rPr>
              <a:t>→  O4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63824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1F2959"/>
                </a:solidFill>
                <a:latin typeface="Aptos"/>
              </a:rPr>
              <a:t>More customization can increase cognitive load; the project uses controlled filters, role views and drill-downs.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4623" y="4042156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4623" y="4032504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1540" y="4089400"/>
            <a:ext cx="4754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dirty="0">
                <a:solidFill>
                  <a:srgbClr val="1F2959"/>
                </a:solidFill>
                <a:latin typeface="Aptos"/>
              </a:rPr>
              <a:t>G5  Evaluation is incomplete  </a:t>
            </a:r>
            <a:r>
              <a:rPr sz="1100" b="1" dirty="0">
                <a:solidFill>
                  <a:srgbClr val="0E7490"/>
                </a:solidFill>
                <a:latin typeface="Aptos"/>
              </a:rPr>
              <a:t>→  O5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" y="4486148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2959"/>
                </a:solidFill>
                <a:latin typeface="Aptos"/>
              </a:rPr>
              <a:t>Accuracy, KPI consistency, usability and decision usefulness are evaluated together.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5394960"/>
            <a:ext cx="5029200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5060" y="5637609"/>
            <a:ext cx="12522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dirty="0">
                <a:solidFill>
                  <a:srgbClr val="0E7490"/>
                </a:solidFill>
                <a:latin typeface="Aptos"/>
              </a:rPr>
              <a:t>INTEGRATION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532120"/>
            <a:ext cx="3246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E7490"/>
                </a:solidFill>
                <a:latin typeface="Aptos"/>
              </a:rPr>
              <a:t>O1 → O2 → O3 → O4 → O5</a:t>
            </a:r>
            <a:r>
              <a:rPr sz="1000" b="1">
                <a:solidFill>
                  <a:srgbClr val="FFFFFF"/>
                </a:solidFill>
                <a:latin typeface="Aptos"/>
              </a:rPr>
              <a:t>  |  DATA → ETL → KPI → DASHBOARD → DECISION → EVALUATION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7E466-E2CC-1F3E-DA5A-6406B85B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" y="38663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TextBox 28"/>
          <p:cNvSpPr txBox="1"/>
          <p:nvPr/>
        </p:nvSpPr>
        <p:spPr>
          <a:xfrm>
            <a:off x="7955279" y="521207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E7490"/>
                </a:solidFill>
                <a:latin typeface="Aptos"/>
              </a:rPr>
              <a:t>O1–O5 = PROJECT OBJECTIVES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21009"/>
            <a:ext cx="1051560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>
                <a:solidFill>
                  <a:srgbClr val="1F2959"/>
                </a:solidFill>
                <a:latin typeface="Aptos"/>
              </a:rPr>
              <a:t>5 themes → one clear direction.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417320"/>
            <a:ext cx="4800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572768"/>
            <a:ext cx="45720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490472"/>
            <a:ext cx="1691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BI &amp;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463040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>
                <a:solidFill>
                  <a:srgbClr val="475569"/>
                </a:solidFill>
                <a:latin typeface="Aptos"/>
              </a:rPr>
              <a:t>BI creates value when analytics are embedded in real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58568"/>
            <a:ext cx="4800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2414016"/>
            <a:ext cx="45720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331720"/>
            <a:ext cx="1691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Self-Service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30428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>
                <a:solidFill>
                  <a:srgbClr val="475569"/>
                </a:solidFill>
                <a:latin typeface="Aptos"/>
              </a:rPr>
              <a:t>Adoption depends on governance, skills and the data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99816"/>
            <a:ext cx="4800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3255264"/>
            <a:ext cx="45720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264408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172968"/>
            <a:ext cx="1691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Data Understanding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145536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>
                <a:solidFill>
                  <a:srgbClr val="475569"/>
                </a:solidFill>
                <a:latin typeface="Aptos"/>
              </a:rPr>
              <a:t>Profiling, metadata and context matter before visualization.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41064"/>
            <a:ext cx="4800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60" y="4096512"/>
            <a:ext cx="457200" cy="31089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105656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014216"/>
            <a:ext cx="1691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Visual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3986784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>
                <a:solidFill>
                  <a:srgbClr val="475569"/>
                </a:solidFill>
                <a:latin typeface="Aptos"/>
              </a:rPr>
              <a:t>Goals, uncertainty and representation affect interpretation.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782312"/>
            <a:ext cx="48006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" y="4937760"/>
            <a:ext cx="45720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946904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855464"/>
            <a:ext cx="1691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Dashboard 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4828032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>
                <a:solidFill>
                  <a:srgbClr val="475569"/>
                </a:solidFill>
                <a:latin typeface="Aptos"/>
              </a:rPr>
              <a:t>Cognitive load, personalization and drill-down shape usability.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1417320"/>
            <a:ext cx="544068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36208" y="2251873"/>
            <a:ext cx="4480560" cy="7540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"/>
              </a:rPr>
              <a:t>Successful BI is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not only a dashboard.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324612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The research repeatedly points to the same chain: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3794760"/>
            <a:ext cx="205740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81928" y="3803904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QUALITY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59368" y="3794760"/>
            <a:ext cx="205740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05088" y="3803904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KPI MEANING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6208" y="4453128"/>
            <a:ext cx="205740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81928" y="4462272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USER CONTEXT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59368" y="4453128"/>
            <a:ext cx="2057400" cy="31089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05088" y="4462272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VISUAL CLARITY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6208" y="5111496"/>
            <a:ext cx="2057400" cy="310896"/>
          </a:xfrm>
          <a:prstGeom prst="roundRect">
            <a:avLst/>
          </a:prstGeom>
          <a:solidFill>
            <a:srgbClr val="1F2959"/>
          </a:solidFill>
          <a:ln w="12700">
            <a:solidFill>
              <a:srgbClr val="1F2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81928" y="5120640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5518011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Our project connects these pieces into one end-to-end workflow.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7E466-E2CC-1F3E-DA5A-6406B85B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75" y="44649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2959"/>
                </a:solidFill>
                <a:latin typeface="Aptos"/>
              </a:rPr>
              <a:t>A decision-first BI pipeline, not just a collection of charts.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874519"/>
            <a:ext cx="1234440" cy="9601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2039112"/>
            <a:ext cx="10881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DATA</a:t>
            </a:r>
            <a:br/>
            <a:r>
              <a:t>SOURCES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73936" y="2350008"/>
            <a:ext cx="21031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1874519"/>
            <a:ext cx="1325880" cy="96012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30552" y="2039112"/>
            <a:ext cx="11795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ETL +</a:t>
            </a:r>
            <a:br/>
            <a:r>
              <a:t>QUALITY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19856" y="2350008"/>
            <a:ext cx="21031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03320" y="1874519"/>
            <a:ext cx="1508760" cy="9601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2039112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WAREHOUSE</a:t>
            </a:r>
            <a:br/>
            <a:r>
              <a:t>STAR SCHEMA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48655" y="2350008"/>
            <a:ext cx="256033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577840" y="1874519"/>
            <a:ext cx="1417320" cy="9601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50992" y="2039112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KPI /</a:t>
            </a:r>
            <a:br/>
            <a:r>
              <a:t>SEMANTIC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31736" y="2350008"/>
            <a:ext cx="25603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60920" y="1874519"/>
            <a:ext cx="1417320" cy="9601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34072" y="2039112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DASHBOARDS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14816" y="2350008"/>
            <a:ext cx="25603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0" y="1874519"/>
            <a:ext cx="1554480" cy="960120"/>
          </a:xfrm>
          <a:prstGeom prst="roundRect">
            <a:avLst/>
          </a:prstGeom>
          <a:solidFill>
            <a:srgbClr val="1F2959"/>
          </a:solidFill>
          <a:ln w="12700">
            <a:solidFill>
              <a:srgbClr val="1F2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17152" y="2039112"/>
            <a:ext cx="14081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DECISION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127248"/>
            <a:ext cx="7863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ptos"/>
              </a:rPr>
              <a:t>Sales • Finance • HR • Marketing • Operations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86200"/>
            <a:ext cx="3429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400507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Decision-first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27024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Aptos"/>
              </a:rPr>
              <a:t>Start with the question, then choose the KPI and visual.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886200"/>
            <a:ext cx="3429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9432" y="400507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Cross-functional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27024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Aptos"/>
              </a:rPr>
              <a:t>Shared dimensions make departmental performance comparable.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886200"/>
            <a:ext cx="3429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94192" y="400507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Traceable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27024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Aptos"/>
              </a:rPr>
              <a:t>Every major visual can be linked back to a KPI definition and curated data.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120640"/>
            <a:ext cx="3429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1" y="523951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Human-centered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550468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Aptos"/>
              </a:rPr>
              <a:t>Summary first; detail through filters and controlled drill-down.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5120640"/>
            <a:ext cx="3429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99432" y="5239512"/>
            <a:ext cx="3017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2959"/>
                </a:solidFill>
                <a:latin typeface="Aptos"/>
              </a:rPr>
              <a:t>Future-ready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2" y="550468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Aptos"/>
              </a:rPr>
              <a:t>Designed to extend into forecasting, anomaly detection and natural-language BI.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7E466-E2CC-1F3E-DA5A-6406B85B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9006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2959"/>
                </a:solidFill>
                <a:latin typeface="Aptos"/>
              </a:rPr>
              <a:t>Yes — the scope is realistic, measurable and staged.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417320"/>
            <a:ext cx="3703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959"/>
                </a:solidFill>
                <a:latin typeface="Aptos"/>
              </a:rPr>
              <a:t>FEASIBILITY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105156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49424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TECHNICAL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221992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Python • Pandas • SQL/PostgreSQL • Power 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98648"/>
            <a:ext cx="105156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907791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88036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Public business datasets + controlled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557016"/>
            <a:ext cx="105156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538728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Open-source tools + academic/free tiers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15384"/>
            <a:ext cx="1051560" cy="31089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224528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197096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Simple KPIs, filters, drill-downs and role 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73752"/>
            <a:ext cx="105156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882896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855464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8-week staged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1719072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959"/>
                </a:solidFill>
                <a:latin typeface="Aptos"/>
              </a:rPr>
              <a:t>8-WEEK EXECUTION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224028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18888" y="235000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W1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266090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Problem + literature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24028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235000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Aptos"/>
              </a:rPr>
              <a:t>W2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266090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Data + profiling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224028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0727" y="235000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Aptos"/>
              </a:rPr>
              <a:t>W3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7" y="266090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ETL +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46920" y="224028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56648" y="235000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Aptos"/>
              </a:rPr>
              <a:t>W4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266090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Warehouse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09160" y="365760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18888" y="376732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W5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8888" y="407822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EDA + KPIs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365760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64808" y="376732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Aptos"/>
              </a:rPr>
              <a:t>W6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8" y="407822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Dashboards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01000" y="365760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10727" y="376732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Aptos"/>
              </a:rPr>
              <a:t>W7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0727" y="407822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Testing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46920" y="3657600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56648" y="376732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Aptos"/>
              </a:rPr>
              <a:t>W8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48" y="4078224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1F2959"/>
                </a:solidFill>
                <a:latin typeface="Aptos"/>
              </a:rPr>
              <a:t>Report + review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09160" y="5212080"/>
            <a:ext cx="640080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83480" y="5376672"/>
            <a:ext cx="5852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Build → validate → evaluate → improve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7E466-E2CC-1F3E-DA5A-6406B85B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5721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1192173"/>
            <a:ext cx="6583680" cy="8617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Aptos"/>
              </a:rPr>
              <a:t>From scattered data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to confident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6126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The project turns the literature gap into a practical, measurable and human-centered BI 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886200"/>
            <a:ext cx="1170432" cy="5669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89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LITERATURE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9967" y="3575304"/>
            <a:ext cx="1170432" cy="56692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75687" y="3712464"/>
            <a:ext cx="10789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3264408"/>
            <a:ext cx="1170432" cy="56692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9856" y="3401568"/>
            <a:ext cx="10789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8304" y="2953512"/>
            <a:ext cx="1170432" cy="566928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64024" y="3090672"/>
            <a:ext cx="10789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INNOVATION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8272" y="2642615"/>
            <a:ext cx="1170432" cy="5669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8272" y="2830068"/>
            <a:ext cx="10789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005840"/>
            <a:ext cx="388620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79" y="2177713"/>
            <a:ext cx="3063240" cy="1908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Aptos"/>
              </a:rPr>
              <a:t>We are not building</a:t>
            </a:r>
            <a:br>
              <a:rPr dirty="0"/>
            </a:br>
            <a:r>
              <a:rPr sz="2400" b="1" dirty="0">
                <a:solidFill>
                  <a:schemeClr val="bg1"/>
                </a:solidFill>
              </a:rPr>
              <a:t>a dashboard</a:t>
            </a:r>
            <a:r>
              <a:rPr dirty="0">
                <a:solidFill>
                  <a:schemeClr val="bg1"/>
                </a:solidFill>
              </a:rPr>
              <a:t>.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We are building the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pipeline that makes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the dashboard useful.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937760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2E8F0"/>
                </a:solidFill>
                <a:latin typeface="Aptos"/>
              </a:rPr>
              <a:t>Data → KPI → Insight →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" y="5826177"/>
            <a:ext cx="3060291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  <a:latin typeface="Aptos"/>
              </a:rPr>
              <a:t>THANK YOU</a:t>
            </a:r>
            <a:endParaRPr lang="en-US" sz="36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7E466-E2CC-1F3E-DA5A-6406B85B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307"/>
            <a:ext cx="1371599" cy="60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1308</Words>
  <Application>Microsoft Office PowerPoint</Application>
  <PresentationFormat>Widescreen</PresentationFormat>
  <Paragraphs>192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sesank yennam</dc:creator>
  <cp:keywords/>
  <dc:description>generated using python-pptx</dc:description>
  <cp:lastModifiedBy>sesank yennam</cp:lastModifiedBy>
  <cp:revision>8</cp:revision>
  <dcterms:created xsi:type="dcterms:W3CDTF">2013-01-27T09:14:16Z</dcterms:created>
  <dcterms:modified xsi:type="dcterms:W3CDTF">2026-08-14T05:13:42Z</dcterms:modified>
  <cp:category/>
</cp:coreProperties>
</file>